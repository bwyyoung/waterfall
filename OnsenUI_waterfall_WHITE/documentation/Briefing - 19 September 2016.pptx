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8"/>
  </p:notesMasterIdLst>
  <p:sldIdLst>
    <p:sldId id="256" r:id="rId2"/>
    <p:sldId id="257" r:id="rId3"/>
    <p:sldId id="259" r:id="rId4"/>
    <p:sldId id="272" r:id="rId5"/>
    <p:sldId id="271" r:id="rId6"/>
    <p:sldId id="284" r:id="rId7"/>
    <p:sldId id="278" r:id="rId8"/>
    <p:sldId id="280" r:id="rId9"/>
    <p:sldId id="281" r:id="rId10"/>
    <p:sldId id="282" r:id="rId11"/>
    <p:sldId id="283" r:id="rId12"/>
    <p:sldId id="288" r:id="rId13"/>
    <p:sldId id="290" r:id="rId14"/>
    <p:sldId id="289" r:id="rId15"/>
    <p:sldId id="291" r:id="rId16"/>
    <p:sldId id="275" r:id="rId17"/>
    <p:sldId id="287" r:id="rId18"/>
    <p:sldId id="273" r:id="rId19"/>
    <p:sldId id="276" r:id="rId20"/>
    <p:sldId id="274" r:id="rId21"/>
    <p:sldId id="277" r:id="rId22"/>
    <p:sldId id="285" r:id="rId23"/>
    <p:sldId id="286" r:id="rId24"/>
    <p:sldId id="292" r:id="rId25"/>
    <p:sldId id="293" r:id="rId26"/>
    <p:sldId id="260" r:id="rId27"/>
    <p:sldId id="269" r:id="rId28"/>
    <p:sldId id="261" r:id="rId29"/>
    <p:sldId id="258" r:id="rId30"/>
    <p:sldId id="267" r:id="rId31"/>
    <p:sldId id="262" r:id="rId32"/>
    <p:sldId id="263" r:id="rId33"/>
    <p:sldId id="264" r:id="rId34"/>
    <p:sldId id="265" r:id="rId35"/>
    <p:sldId id="266" r:id="rId36"/>
    <p:sldId id="26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9"/>
    <p:restoredTop sz="73349"/>
  </p:normalViewPr>
  <p:slideViewPr>
    <p:cSldViewPr snapToGrid="0" snapToObjects="1">
      <p:cViewPr varScale="1">
        <p:scale>
          <a:sx n="167" d="100"/>
          <a:sy n="167" d="100"/>
        </p:scale>
        <p:origin x="22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6F323-D5BD-7A47-9FED-6A8DC64BF06F}" type="datetimeFigureOut">
              <a:rPr lang="en-US" smtClean="0"/>
              <a:t>11/13/17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6BAB2-FA92-B546-B2EE-F21B3D88521F}" type="slidenum">
              <a:rPr lang="en-US" smtClean="0"/>
              <a:t>‹#›</a:t>
            </a:fld>
            <a:endParaRPr lang="en-US"/>
          </a:p>
        </p:txBody>
      </p:sp>
    </p:spTree>
    <p:extLst>
      <p:ext uri="{BB962C8B-B14F-4D97-AF65-F5344CB8AC3E}">
        <p14:creationId xmlns:p14="http://schemas.microsoft.com/office/powerpoint/2010/main" val="682302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monaca.mobi/en/" TargetMode="External"/><Relationship Id="rId4" Type="http://schemas.openxmlformats.org/officeDocument/2006/relationships/hyperlink" Target="http://components.onsenui.io/" TargetMode="External"/><Relationship Id="rId5" Type="http://schemas.openxmlformats.org/officeDocument/2006/relationships/hyperlink" Target="https://forum.ionicframework.com/t/ionic-list-performance/546/11" TargetMode="External"/><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a:t>
            </a:r>
            <a:r>
              <a:rPr lang="en-US" dirty="0" err="1" smtClean="0"/>
              <a:t>forum.ionicframework.com</a:t>
            </a:r>
            <a:r>
              <a:rPr lang="en-US" dirty="0" smtClean="0"/>
              <a:t>/t/pros-cons-vs-</a:t>
            </a:r>
            <a:r>
              <a:rPr lang="en-US" dirty="0" err="1" smtClean="0"/>
              <a:t>onsen</a:t>
            </a:r>
            <a:r>
              <a:rPr lang="en-US" dirty="0" smtClean="0"/>
              <a:t>-</a:t>
            </a:r>
            <a:r>
              <a:rPr lang="en-US" dirty="0" err="1" smtClean="0"/>
              <a:t>ui</a:t>
            </a:r>
            <a:r>
              <a:rPr lang="en-US" dirty="0" smtClean="0"/>
              <a:t>/8177</a:t>
            </a:r>
          </a:p>
          <a:p>
            <a:endParaRPr lang="en-US" dirty="0" smtClean="0"/>
          </a:p>
          <a:p>
            <a:r>
              <a:rPr lang="en-US" sz="1200" b="0" i="0" kern="1200" dirty="0" smtClean="0">
                <a:solidFill>
                  <a:schemeClr val="tx1"/>
                </a:solidFill>
                <a:effectLst/>
                <a:latin typeface="+mn-lt"/>
                <a:ea typeface="+mn-ea"/>
                <a:cs typeface="+mn-cs"/>
              </a:rPr>
              <a:t>Thanks for honest opinion. Personally I do not see myself as the target audience for a WYSIWYG editor -- mainly because of the terrible code those types of editors tend to output (though I see clean code is touted as one of the features). But I understand your overall point in regards to surrounding services that can enhance a developers workflow. To that end, I believe: </a:t>
            </a:r>
            <a:r>
              <a:rPr lang="en-US" sz="1200" b="0" i="0" u="none" strike="noStrike" kern="1200" dirty="0" smtClean="0">
                <a:solidFill>
                  <a:schemeClr val="tx1"/>
                </a:solidFill>
                <a:effectLst/>
                <a:latin typeface="+mn-lt"/>
                <a:ea typeface="+mn-ea"/>
                <a:cs typeface="+mn-cs"/>
                <a:hlinkClick r:id="rId3"/>
              </a:rPr>
              <a:t>http://monaca.mobi/en/190</a:t>
            </a:r>
            <a:r>
              <a:rPr lang="en-US" sz="1200" b="0" i="0" kern="1200" dirty="0" smtClean="0">
                <a:solidFill>
                  <a:schemeClr val="tx1"/>
                </a:solidFill>
                <a:effectLst/>
                <a:latin typeface="+mn-lt"/>
                <a:ea typeface="+mn-ea"/>
                <a:cs typeface="+mn-cs"/>
              </a:rPr>
              <a:t> is </a:t>
            </a:r>
            <a:r>
              <a:rPr lang="en-US" sz="1200" b="0" i="0" kern="1200" dirty="0" err="1" smtClean="0">
                <a:solidFill>
                  <a:schemeClr val="tx1"/>
                </a:solidFill>
                <a:effectLst/>
                <a:latin typeface="+mn-lt"/>
                <a:ea typeface="+mn-ea"/>
                <a:cs typeface="+mn-cs"/>
              </a:rPr>
              <a:t>Onsen's</a:t>
            </a:r>
            <a:r>
              <a:rPr lang="en-US" sz="1200" b="0" i="0" kern="1200" dirty="0" smtClean="0">
                <a:solidFill>
                  <a:schemeClr val="tx1"/>
                </a:solidFill>
                <a:effectLst/>
                <a:latin typeface="+mn-lt"/>
                <a:ea typeface="+mn-ea"/>
                <a:cs typeface="+mn-cs"/>
              </a:rPr>
              <a:t> "answer" to Ionics surrounding services, but I may be wrong about that.</a:t>
            </a:r>
          </a:p>
          <a:p>
            <a:r>
              <a:rPr lang="en-US" sz="1200" b="0" i="0" kern="1200" dirty="0" smtClean="0">
                <a:solidFill>
                  <a:schemeClr val="tx1"/>
                </a:solidFill>
                <a:effectLst/>
                <a:latin typeface="+mn-lt"/>
                <a:ea typeface="+mn-ea"/>
                <a:cs typeface="+mn-cs"/>
              </a:rPr>
              <a:t>My 3 biggest concerns when comparing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and Ionic are:</a:t>
            </a:r>
          </a:p>
          <a:p>
            <a:r>
              <a:rPr lang="en-US" sz="1200" b="0" i="0" u="none" strike="noStrike" kern="1200" dirty="0" smtClean="0">
                <a:solidFill>
                  <a:schemeClr val="tx1"/>
                </a:solidFill>
                <a:effectLst/>
                <a:latin typeface="+mn-lt"/>
                <a:ea typeface="+mn-ea"/>
                <a:cs typeface="+mn-cs"/>
                <a:hlinkClick r:id="rId4"/>
              </a:rPr>
              <a:t>http://components.onsenui.io/628</a:t>
            </a:r>
            <a:r>
              <a:rPr lang="en-US" sz="1200" b="0" i="0" kern="1200" dirty="0" smtClean="0">
                <a:solidFill>
                  <a:schemeClr val="tx1"/>
                </a:solidFill>
                <a:effectLst/>
                <a:latin typeface="+mn-lt"/>
                <a:ea typeface="+mn-ea"/>
                <a:cs typeface="+mn-cs"/>
              </a:rPr>
              <a:t> - The ability to theme my app like this, so easily, is a HUGE draw for someone like me who is "challenged" in the way of design.</a:t>
            </a:r>
          </a:p>
          <a:p>
            <a:r>
              <a:rPr lang="en-US" sz="1200" b="0" i="0" kern="1200" dirty="0" smtClean="0">
                <a:solidFill>
                  <a:schemeClr val="tx1"/>
                </a:solidFill>
                <a:effectLst/>
                <a:latin typeface="+mn-lt"/>
                <a:ea typeface="+mn-ea"/>
                <a:cs typeface="+mn-cs"/>
              </a:rPr>
              <a:t>This </a:t>
            </a:r>
            <a:r>
              <a:rPr lang="en-US" sz="1200" b="1" i="0" kern="1200" dirty="0" smtClean="0">
                <a:solidFill>
                  <a:schemeClr val="tx1"/>
                </a:solidFill>
                <a:effectLst/>
                <a:latin typeface="+mn-lt"/>
                <a:ea typeface="+mn-ea"/>
                <a:cs typeface="+mn-cs"/>
              </a:rPr>
              <a:t>one</a:t>
            </a:r>
            <a:r>
              <a:rPr lang="en-US" sz="1200" b="0" i="0" kern="1200" dirty="0" smtClean="0">
                <a:solidFill>
                  <a:schemeClr val="tx1"/>
                </a:solidFill>
                <a:effectLst/>
                <a:latin typeface="+mn-lt"/>
                <a:ea typeface="+mn-ea"/>
                <a:cs typeface="+mn-cs"/>
              </a:rPr>
              <a:t> post reference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as having better list performance out of the box than </a:t>
            </a:r>
            <a:r>
              <a:rPr lang="en-US" sz="1200" b="0" i="0" kern="1200" dirty="0" err="1" smtClean="0">
                <a:solidFill>
                  <a:schemeClr val="tx1"/>
                </a:solidFill>
                <a:effectLst/>
                <a:latin typeface="+mn-lt"/>
                <a:ea typeface="+mn-ea"/>
                <a:cs typeface="+mn-cs"/>
              </a:rPr>
              <a:t>Ionic:</a:t>
            </a:r>
            <a:r>
              <a:rPr lang="en-US" sz="1200" b="0" i="0" u="none" strike="noStrike" kern="1200" dirty="0" err="1" smtClean="0">
                <a:solidFill>
                  <a:schemeClr val="tx1"/>
                </a:solidFill>
                <a:effectLst/>
                <a:latin typeface="+mn-lt"/>
                <a:ea typeface="+mn-ea"/>
                <a:cs typeface="+mn-cs"/>
                <a:hlinkClick r:id="rId5"/>
              </a:rPr>
              <a:t>http</a:t>
            </a:r>
            <a:r>
              <a:rPr lang="en-US" sz="1200" b="0" i="0" u="none" strike="noStrike" kern="1200" dirty="0" smtClean="0">
                <a:solidFill>
                  <a:schemeClr val="tx1"/>
                </a:solidFill>
                <a:effectLst/>
                <a:latin typeface="+mn-lt"/>
                <a:ea typeface="+mn-ea"/>
                <a:cs typeface="+mn-cs"/>
                <a:hlinkClick r:id="rId5"/>
              </a:rPr>
              <a:t>://forum.ionicframework.com/t/ionic-list-performance/546/11</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is in beta, while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apparently is not. Though this is definitely not the biggest deal in the world for me.</a:t>
            </a:r>
          </a:p>
          <a:p>
            <a:r>
              <a:rPr lang="en-US" sz="1200" b="0" i="0" kern="1200" dirty="0" smtClean="0">
                <a:solidFill>
                  <a:schemeClr val="tx1"/>
                </a:solidFill>
                <a:effectLst/>
                <a:latin typeface="+mn-lt"/>
                <a:ea typeface="+mn-ea"/>
                <a:cs typeface="+mn-cs"/>
              </a:rPr>
              <a:t>My largest draws to Ionic when compared against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are:</a:t>
            </a:r>
          </a:p>
          <a:p>
            <a:r>
              <a:rPr lang="en-US" sz="1200" b="0" i="0" kern="1200" dirty="0" smtClean="0">
                <a:solidFill>
                  <a:schemeClr val="tx1"/>
                </a:solidFill>
                <a:effectLst/>
                <a:latin typeface="+mn-lt"/>
                <a:ea typeface="+mn-ea"/>
                <a:cs typeface="+mn-cs"/>
              </a:rPr>
              <a:t>Community.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defers support to Stack Overflow</a:t>
            </a:r>
          </a:p>
          <a:p>
            <a:r>
              <a:rPr lang="en-US" sz="1200" b="0" i="0" kern="1200" dirty="0" err="1" smtClean="0">
                <a:solidFill>
                  <a:schemeClr val="tx1"/>
                </a:solidFill>
                <a:effectLst/>
                <a:latin typeface="+mn-lt"/>
                <a:ea typeface="+mn-ea"/>
                <a:cs typeface="+mn-cs"/>
              </a:rPr>
              <a:t>Ionic's</a:t>
            </a:r>
            <a:r>
              <a:rPr lang="en-US" sz="1200" b="0" i="0" kern="1200" dirty="0" smtClean="0">
                <a:solidFill>
                  <a:schemeClr val="tx1"/>
                </a:solidFill>
                <a:effectLst/>
                <a:latin typeface="+mn-lt"/>
                <a:ea typeface="+mn-ea"/>
                <a:cs typeface="+mn-cs"/>
              </a:rPr>
              <a:t> Showcase. Proves to me there are production apps using Ionic in successful ways</a:t>
            </a:r>
          </a:p>
          <a:p>
            <a:r>
              <a:rPr lang="en-US" sz="1200" b="0" i="0" kern="1200" dirty="0" err="1" smtClean="0">
                <a:solidFill>
                  <a:schemeClr val="tx1"/>
                </a:solidFill>
                <a:effectLst/>
                <a:latin typeface="+mn-lt"/>
                <a:ea typeface="+mn-ea"/>
                <a:cs typeface="+mn-cs"/>
              </a:rPr>
              <a:t>Ionic's</a:t>
            </a:r>
            <a:r>
              <a:rPr lang="en-US" sz="1200" b="0" i="0" kern="1200" dirty="0" smtClean="0">
                <a:solidFill>
                  <a:schemeClr val="tx1"/>
                </a:solidFill>
                <a:effectLst/>
                <a:latin typeface="+mn-lt"/>
                <a:ea typeface="+mn-ea"/>
                <a:cs typeface="+mn-cs"/>
              </a:rPr>
              <a:t> Activity.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seems to have 1 primary programmer on GitHub, while it seems Ionic has 3-4.</a:t>
            </a:r>
          </a:p>
          <a:p>
            <a:r>
              <a:rPr lang="en-US" sz="1200" b="0" i="0" kern="1200" dirty="0" smtClean="0">
                <a:solidFill>
                  <a:schemeClr val="tx1"/>
                </a:solidFill>
                <a:effectLst/>
                <a:latin typeface="+mn-lt"/>
                <a:ea typeface="+mn-ea"/>
                <a:cs typeface="+mn-cs"/>
              </a:rPr>
              <a:t>I'm posting all this here just as a reference for others, or to be proven wrong on any of these points. Currently I am leaning in favor with Ionic because I feel that it's likely only a matter of time before this team closes the gap on any of the concerns I listed above.</a:t>
            </a:r>
          </a:p>
          <a:p>
            <a:r>
              <a:rPr lang="en-US" sz="1200" b="0" i="0" kern="1200" dirty="0" smtClean="0">
                <a:solidFill>
                  <a:schemeClr val="tx1"/>
                </a:solidFill>
                <a:effectLst/>
                <a:latin typeface="+mn-lt"/>
                <a:ea typeface="+mn-ea"/>
                <a:cs typeface="+mn-cs"/>
              </a:rPr>
              <a:t>Thanks again</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One year has passed since both frameworks are available on the market.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is currently in stable 1.2 version while Ionic is in the last release candidate state.</a:t>
            </a:r>
            <a:r>
              <a:rPr lang="en-US" dirty="0" smtClean="0"/>
              <a:t/>
            </a:r>
            <a:br>
              <a:rPr lang="en-US" dirty="0" smtClean="0"/>
            </a:br>
            <a:r>
              <a:rPr lang="en-US" sz="1200" b="0" i="0" kern="1200" dirty="0" smtClean="0">
                <a:solidFill>
                  <a:schemeClr val="tx1"/>
                </a:solidFill>
                <a:effectLst/>
                <a:latin typeface="+mn-lt"/>
                <a:ea typeface="+mn-ea"/>
                <a:cs typeface="+mn-cs"/>
              </a:rPr>
              <a:t>I have worked with both of them so let me give you a short overview, I also wrote a much larger blog article, you'll find it at the end of this answer.</a:t>
            </a:r>
            <a:r>
              <a:rPr lang="en-US" dirty="0" smtClean="0"/>
              <a:t/>
            </a:r>
            <a:br>
              <a:rPr lang="en-US" dirty="0" smtClean="0"/>
            </a:br>
            <a:r>
              <a:rPr lang="en-US" sz="1200" b="0" i="0" kern="1200" dirty="0" smtClean="0">
                <a:solidFill>
                  <a:schemeClr val="tx1"/>
                </a:solidFill>
                <a:effectLst/>
                <a:latin typeface="+mn-lt"/>
                <a:ea typeface="+mn-ea"/>
                <a:cs typeface="+mn-cs"/>
              </a:rPr>
              <a:t>I won't go into much details about the core framework; if you have a previous AngularJS knowledge you will easily transition to Ionic or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a:t>
            </a:r>
            <a:r>
              <a:rPr lang="en-US" dirty="0" smtClean="0"/>
              <a:t/>
            </a:r>
            <a:br>
              <a:rPr lang="en-US" dirty="0" smtClean="0"/>
            </a:br>
            <a:r>
              <a:rPr lang="en-US" sz="1200" b="0" i="0" kern="1200" dirty="0" smtClean="0">
                <a:solidFill>
                  <a:schemeClr val="tx1"/>
                </a:solidFill>
                <a:effectLst/>
                <a:latin typeface="+mn-lt"/>
                <a:ea typeface="+mn-ea"/>
                <a:cs typeface="+mn-cs"/>
              </a:rPr>
              <a:t>Both frameworks are built around AngularJS and they heavily depend on directives, you can also easily build your own custom directives.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also features a jQuery support (unnecessary if you ask me).</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support Android 4+, iOS 6+ (some features are available on Android 2.3),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also officially supports Firefox OS and desktop browsers. Ionic don't have an official desktop support, but it will still work (it will not be pretty, imagine ).</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currently don't support Windows Mobile platform (it will have it in the future),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support is currently in development (since November 2014).</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support some kind of </a:t>
            </a:r>
            <a:r>
              <a:rPr lang="en-US" sz="1200" b="0" i="0" kern="1200" dirty="0" err="1" smtClean="0">
                <a:solidFill>
                  <a:schemeClr val="tx1"/>
                </a:solidFill>
                <a:effectLst/>
                <a:latin typeface="+mn-lt"/>
                <a:ea typeface="+mn-ea"/>
                <a:cs typeface="+mn-cs"/>
              </a:rPr>
              <a:t>splitview</a:t>
            </a:r>
            <a:r>
              <a:rPr lang="en-US" sz="1200" b="0" i="0" kern="1200" dirty="0" smtClean="0">
                <a:solidFill>
                  <a:schemeClr val="tx1"/>
                </a:solidFill>
                <a:effectLst/>
                <a:latin typeface="+mn-lt"/>
                <a:ea typeface="+mn-ea"/>
                <a:cs typeface="+mn-cs"/>
              </a:rPr>
              <a:t> feature so they can be used for table development.</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have a distinctive nice looking flat UI. I prefer Ionic over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look and feel, but this is a matter of personal taste. Both default themes look iOS 7 like.</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supports native looking themes for Android and iOS. Ionic framework uses the same theme for all platforms, but some features will depend on the platform (for example tab look and feel)</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have a working theme builder.</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supports SASS while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is built around Topcoat CSS library.</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have a large widget support (directives)</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has a better documentation. It is separated at two different locations. First one is “Components” where you can see different directives and each one has a working example you can use and replicate. Second part is a “Guide” where you are guided through the application creation process.</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has a disorganized documentation (heavily fragmented). It lacks a real “getting started” tutorial, even if you have previous AngularJS experience. It shows you pieces, but not how to connect them correctly.</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On the other hand Ionic has much larger community so you will easily find problem solutions.</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framework has a great official forum + large </a:t>
            </a:r>
            <a:r>
              <a:rPr lang="en-US" sz="1200" b="0" i="0" kern="1200" dirty="0" err="1" smtClean="0">
                <a:solidFill>
                  <a:schemeClr val="tx1"/>
                </a:solidFill>
                <a:effectLst/>
                <a:latin typeface="+mn-lt"/>
                <a:ea typeface="+mn-ea"/>
                <a:cs typeface="+mn-cs"/>
              </a:rPr>
              <a:t>StackOverflow</a:t>
            </a:r>
            <a:r>
              <a:rPr lang="en-US" sz="1200" b="0" i="0" kern="1200" dirty="0" smtClean="0">
                <a:solidFill>
                  <a:schemeClr val="tx1"/>
                </a:solidFill>
                <a:effectLst/>
                <a:latin typeface="+mn-lt"/>
                <a:ea typeface="+mn-ea"/>
                <a:cs typeface="+mn-cs"/>
              </a:rPr>
              <a:t> community. At the same time,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uses only </a:t>
            </a:r>
            <a:r>
              <a:rPr lang="en-US" sz="1200" b="0" i="0" kern="1200" dirty="0" err="1" smtClean="0">
                <a:solidFill>
                  <a:schemeClr val="tx1"/>
                </a:solidFill>
                <a:effectLst/>
                <a:latin typeface="+mn-lt"/>
                <a:ea typeface="+mn-ea"/>
                <a:cs typeface="+mn-cs"/>
              </a:rPr>
              <a:t>StackOverflow</a:t>
            </a:r>
            <a:r>
              <a:rPr lang="en-US" sz="1200" b="0" i="0" kern="1200" dirty="0" smtClean="0">
                <a:solidFill>
                  <a:schemeClr val="tx1"/>
                </a:solidFill>
                <a:effectLst/>
                <a:latin typeface="+mn-lt"/>
                <a:ea typeface="+mn-ea"/>
                <a:cs typeface="+mn-cs"/>
              </a:rPr>
              <a:t> as a help center (I would call this a fail).</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has an HTML5 IDE called MONACA IDE (great tool), Ionic IDE is currently in production, you can participate in beta test.</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has a growing 3rd party plugin community (for example date picker), I couldn't find any 3rd party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plugin</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B1E6BAB2-FA92-B546-B2EE-F21B3D88521F}" type="slidenum">
              <a:rPr lang="en-US" smtClean="0"/>
              <a:t>4</a:t>
            </a:fld>
            <a:endParaRPr lang="en-US"/>
          </a:p>
        </p:txBody>
      </p:sp>
    </p:spTree>
    <p:extLst>
      <p:ext uri="{BB962C8B-B14F-4D97-AF65-F5344CB8AC3E}">
        <p14:creationId xmlns:p14="http://schemas.microsoft.com/office/powerpoint/2010/main" val="2042136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E6BAB2-FA92-B546-B2EE-F21B3D88521F}" type="slidenum">
              <a:rPr lang="en-US" smtClean="0"/>
              <a:t>14</a:t>
            </a:fld>
            <a:endParaRPr lang="en-US"/>
          </a:p>
        </p:txBody>
      </p:sp>
    </p:spTree>
    <p:extLst>
      <p:ext uri="{BB962C8B-B14F-4D97-AF65-F5344CB8AC3E}">
        <p14:creationId xmlns:p14="http://schemas.microsoft.com/office/powerpoint/2010/main" val="363324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DBE56C-5730-9247-9C9C-8501C1DD1DBA}" type="datetimeFigureOut">
              <a:rPr lang="en-US" smtClean="0"/>
              <a:t>11/13/17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308862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DBE56C-5730-9247-9C9C-8501C1DD1DBA}" type="datetimeFigureOut">
              <a:rPr lang="en-US" smtClean="0"/>
              <a:t>11/13/17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373242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DBE56C-5730-9247-9C9C-8501C1DD1DBA}" type="datetimeFigureOut">
              <a:rPr lang="en-US" smtClean="0"/>
              <a:t>11/13/17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086615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4DBE56C-5730-9247-9C9C-8501C1DD1DBA}" type="datetimeFigureOut">
              <a:rPr lang="en-US" smtClean="0"/>
              <a:t>11/13/17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546950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4DBE56C-5730-9247-9C9C-8501C1DD1DBA}" type="datetimeFigureOut">
              <a:rPr lang="en-US" smtClean="0"/>
              <a:t>11/13/17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373800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4DBE56C-5730-9247-9C9C-8501C1DD1DBA}" type="datetimeFigureOut">
              <a:rPr lang="en-US" smtClean="0"/>
              <a:t>11/13/17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872583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DBE56C-5730-9247-9C9C-8501C1DD1DBA}" type="datetimeFigureOut">
              <a:rPr lang="en-US" smtClean="0"/>
              <a:t>11/13/17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139399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DBE56C-5730-9247-9C9C-8501C1DD1DBA}" type="datetimeFigureOut">
              <a:rPr lang="en-US" smtClean="0"/>
              <a:t>11/13/17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768690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DBE56C-5730-9247-9C9C-8501C1DD1DBA}" type="datetimeFigureOut">
              <a:rPr lang="en-US" smtClean="0"/>
              <a:t>11/13/17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25915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DBE56C-5730-9247-9C9C-8501C1DD1DBA}" type="datetimeFigureOut">
              <a:rPr lang="en-US" smtClean="0"/>
              <a:t>11/13/17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995004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DBE56C-5730-9247-9C9C-8501C1DD1DBA}" type="datetimeFigureOut">
              <a:rPr lang="en-US" smtClean="0"/>
              <a:t>11/13/17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58574122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DBE56C-5730-9247-9C9C-8501C1DD1DBA}" type="datetimeFigureOut">
              <a:rPr lang="en-US" smtClean="0"/>
              <a:t>11/13/17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665AEA-A4CB-8447-859C-A1CFB0702A31}" type="slidenum">
              <a:rPr lang="en-US" smtClean="0"/>
              <a:t>‹#›</a:t>
            </a:fld>
            <a:endParaRPr lang="en-US"/>
          </a:p>
        </p:txBody>
      </p:sp>
    </p:spTree>
    <p:extLst>
      <p:ext uri="{BB962C8B-B14F-4D97-AF65-F5344CB8AC3E}">
        <p14:creationId xmlns:p14="http://schemas.microsoft.com/office/powerpoint/2010/main" val="38927494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tiff"/></Relationships>
</file>

<file path=ppt/slides/_rels/slide4.xml.rels><?xml version="1.0" encoding="UTF-8" standalone="yes"?>
<Relationships xmlns="http://schemas.openxmlformats.org/package/2006/relationships"><Relationship Id="rId3" Type="http://schemas.openxmlformats.org/officeDocument/2006/relationships/image" Target="../media/image2.tiff"/><Relationship Id="rId4" Type="http://schemas.openxmlformats.org/officeDocument/2006/relationships/image" Target="../media/image3.tiff"/><Relationship Id="rId5" Type="http://schemas.openxmlformats.org/officeDocument/2006/relationships/image" Target="../media/image4.tiff"/><Relationship Id="rId6" Type="http://schemas.openxmlformats.org/officeDocument/2006/relationships/image" Target="../media/image5.tiff"/><Relationship Id="rId7" Type="http://schemas.openxmlformats.org/officeDocument/2006/relationships/image" Target="../media/image6.tiff"/><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tif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tif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tif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tif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tif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tiff"/></Relationships>
</file>

<file path=ppt/slides/_rels/slide17.xml.rels><?xml version="1.0" encoding="UTF-8" standalone="yes"?>
<Relationships xmlns="http://schemas.openxmlformats.org/package/2006/relationships"><Relationship Id="rId3" Type="http://schemas.openxmlformats.org/officeDocument/2006/relationships/image" Target="../media/image19.tiff"/><Relationship Id="rId4" Type="http://schemas.openxmlformats.org/officeDocument/2006/relationships/image" Target="../media/image20.tiff"/><Relationship Id="rId1" Type="http://schemas.openxmlformats.org/officeDocument/2006/relationships/slideLayout" Target="../slideLayouts/slideLayout2.xml"/><Relationship Id="rId2" Type="http://schemas.openxmlformats.org/officeDocument/2006/relationships/image" Target="../media/image18.tif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tif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www.letscodejavascript.com/v3/blog/2015/01/angular_review" TargetMode="External"/><Relationship Id="rId4" Type="http://schemas.openxmlformats.org/officeDocument/2006/relationships/hyperlink" Target="http://stackoverflow.com/questions/21859054/onsenui-vs-ionic-framework" TargetMode="External"/><Relationship Id="rId5" Type="http://schemas.openxmlformats.org/officeDocument/2006/relationships/hyperlink" Target="https://www.quora.com/Whats-the-best-UI-framework-of-Onsen-UI-or-Ionic" TargetMode="External"/><Relationship Id="rId6" Type="http://schemas.openxmlformats.org/officeDocument/2006/relationships/hyperlink" Target="http://www.gajotres.net/best-html5-mobile-app-frameworks-onsen-ui/" TargetMode="External"/><Relationship Id="rId1" Type="http://schemas.openxmlformats.org/officeDocument/2006/relationships/slideLayout" Target="../slideLayouts/slideLayout2.xml"/><Relationship Id="rId2" Type="http://schemas.openxmlformats.org/officeDocument/2006/relationships/hyperlink" Target="http://www.devx.com/wireless/pros-and-cons-of-5-mobile-ui-frameworks.html"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tackoverflow.com/questions/37172346/lokijs-loses-db-and-data-in-collection-when-i-try-to-add-more-data-after-colesin" TargetMode="External"/><Relationship Id="rId4" Type="http://schemas.openxmlformats.org/officeDocument/2006/relationships/hyperlink" Target="http://stackoverflow.com/questions/28575999/input-field-hidden-when-soft-keyboard-appears-in-phonegap" TargetMode="External"/><Relationship Id="rId5" Type="http://schemas.openxmlformats.org/officeDocument/2006/relationships/hyperlink" Target="http://stackoverflow.com/questions/13796234/window-scrollto-not-working-in-phonegap-alternative-solution-or-workaround/13808307#13808307" TargetMode="External"/><Relationship Id="rId6" Type="http://schemas.openxmlformats.org/officeDocument/2006/relationships/hyperlink" Target="http://stackoverflow.com/questions/469357/html-text-input-allow-only-numeric-input" TargetMode="External"/><Relationship Id="rId7" Type="http://schemas.openxmlformats.org/officeDocument/2006/relationships/hyperlink" Target="http://stackoverflow.com/questions/33792527/cordova-crosswalk-ios-still-using-uiwebview" TargetMode="External"/><Relationship Id="rId1" Type="http://schemas.openxmlformats.org/officeDocument/2006/relationships/slideLayout" Target="../slideLayouts/slideLayout2.xml"/><Relationship Id="rId2" Type="http://schemas.openxmlformats.org/officeDocument/2006/relationships/hyperlink" Target="http://stackoverflow.com/questions/9600382/svn-command-to-delete-all-locally-missing-files"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Telerik-Verified-Plugins/WKWebView/issues/209" TargetMode="External"/><Relationship Id="rId4" Type="http://schemas.openxmlformats.org/officeDocument/2006/relationships/hyperlink" Target="https://github.com/Telerik-Verified-Plugins/WKWebView/issues/121" TargetMode="External"/><Relationship Id="rId1" Type="http://schemas.openxmlformats.org/officeDocument/2006/relationships/slideLayout" Target="../slideLayouts/slideLayout2.xml"/><Relationship Id="rId2" Type="http://schemas.openxmlformats.org/officeDocument/2006/relationships/hyperlink" Target="https://github.com/katzer/cordova-plugin-local-notifications/issues/682"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tackoverflow.com/questions/28843883/append-image-file-to-form-data-cordova-angular" TargetMode="External"/><Relationship Id="rId4" Type="http://schemas.openxmlformats.org/officeDocument/2006/relationships/hyperlink" Target="http://zhangwenli.com/blog/2014/08/25/crosswalk-calling-java-methods-with-javascript/" TargetMode="External"/><Relationship Id="rId1" Type="http://schemas.openxmlformats.org/officeDocument/2006/relationships/slideLayout" Target="../slideLayouts/slideLayout2.xml"/><Relationship Id="rId2" Type="http://schemas.openxmlformats.org/officeDocument/2006/relationships/hyperlink" Target="http://www.mat-d.com/site/tutorial-creating-a-cordova-phonegap-plugin-for-android-app/"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www.localeplanet.com/api/auto/currencymap.json" TargetMode="External"/><Relationship Id="rId4" Type="http://schemas.openxmlformats.org/officeDocument/2006/relationships/hyperlink" Target="https://github.com/mrmarkfrench/country-select-js" TargetMode="External"/><Relationship Id="rId5" Type="http://schemas.openxmlformats.org/officeDocument/2006/relationships/hyperlink" Target="http://rateyo.fundoocode.ninja/" TargetMode="External"/><Relationship Id="rId6" Type="http://schemas.openxmlformats.org/officeDocument/2006/relationships/hyperlink" Target="https://crosswalk-project.org/documentation/about/faq.html" TargetMode="External"/><Relationship Id="rId7" Type="http://schemas.openxmlformats.org/officeDocument/2006/relationships/hyperlink" Target="https://github.com/ftlabs/fastclick" TargetMode="External"/><Relationship Id="rId8" Type="http://schemas.openxmlformats.org/officeDocument/2006/relationships/hyperlink" Target="https://github.com/kerrishotts/cordova-keyboard-example" TargetMode="External"/><Relationship Id="rId9" Type="http://schemas.openxmlformats.org/officeDocument/2006/relationships/hyperlink" Target="http://jsbin.com/qakiwebapo/edit?html,css,js,output" TargetMode="External"/><Relationship Id="rId1" Type="http://schemas.openxmlformats.org/officeDocument/2006/relationships/slideLayout" Target="../slideLayouts/slideLayout2.xml"/><Relationship Id="rId2" Type="http://schemas.openxmlformats.org/officeDocument/2006/relationships/hyperlink" Target="https://github.com/sanctus671/cordova-plugin-local-notifications-pgb"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learningjquery.com/2010/05/now-you-see-me-showhide-performance" TargetMode="External"/><Relationship Id="rId3" Type="http://schemas.openxmlformats.org/officeDocument/2006/relationships/hyperlink" Target="http://blog.christoffer.me/six-things-i-learnt-about-ios-safaris-rubber-band-scrolling/"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msdn.microsoft.com/en-us/library/dn324922(v=vs.94).aspx" TargetMode="External"/><Relationship Id="rId3" Type="http://schemas.openxmlformats.org/officeDocument/2006/relationships/hyperlink" Target="https://xd.adobe.com/view/20768e1e-9fc7-4c66-6166-a0c07fec5e85/"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developer.xamarin.com/guides/ios/getting_started/installation/windows/introduction_to_xamarin_ios_for_visual_studio/" TargetMode="External"/><Relationship Id="rId4" Type="http://schemas.openxmlformats.org/officeDocument/2006/relationships/hyperlink" Target="https://developer.xamarin.com/guides/cross-platform/windows/ios-simulator/" TargetMode="External"/><Relationship Id="rId1" Type="http://schemas.openxmlformats.org/officeDocument/2006/relationships/slideLayout" Target="../slideLayouts/slideLayout2.xml"/><Relationship Id="rId2" Type="http://schemas.openxmlformats.org/officeDocument/2006/relationships/hyperlink" Target="https://www.visualstudio.com/en-us/features/mobile-app-development-vs.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227610"/>
            <a:ext cx="9144000" cy="2387600"/>
          </a:xfrm>
        </p:spPr>
        <p:txBody>
          <a:bodyPr/>
          <a:lstStyle/>
          <a:p>
            <a:r>
              <a:rPr lang="en-US" dirty="0" err="1" smtClean="0"/>
              <a:t>liveworkstech</a:t>
            </a:r>
            <a:r>
              <a:rPr lang="en-US" dirty="0" smtClean="0"/>
              <a:t> BRIEFING</a:t>
            </a:r>
            <a:br>
              <a:rPr lang="en-US" dirty="0" smtClean="0"/>
            </a:br>
            <a:r>
              <a:rPr lang="en-US" dirty="0" smtClean="0"/>
              <a:t>waterfall – Android &amp; iOS	</a:t>
            </a:r>
            <a:endParaRPr lang="en-US" dirty="0"/>
          </a:p>
        </p:txBody>
      </p:sp>
      <p:sp>
        <p:nvSpPr>
          <p:cNvPr id="3" name="Subtitle 2"/>
          <p:cNvSpPr>
            <a:spLocks noGrp="1"/>
          </p:cNvSpPr>
          <p:nvPr>
            <p:ph type="subTitle" idx="1"/>
          </p:nvPr>
        </p:nvSpPr>
        <p:spPr>
          <a:xfrm>
            <a:off x="1524000" y="5707285"/>
            <a:ext cx="9144000" cy="1655762"/>
          </a:xfrm>
        </p:spPr>
        <p:txBody>
          <a:bodyPr/>
          <a:lstStyle/>
          <a:p>
            <a:r>
              <a:rPr lang="en-US" dirty="0" smtClean="0"/>
              <a:t>19 September 2016</a:t>
            </a:r>
            <a:endParaRPr lang="en-US" dirty="0"/>
          </a:p>
        </p:txBody>
      </p:sp>
    </p:spTree>
    <p:extLst>
      <p:ext uri="{BB962C8B-B14F-4D97-AF65-F5344CB8AC3E}">
        <p14:creationId xmlns:p14="http://schemas.microsoft.com/office/powerpoint/2010/main" val="8518124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Introduction to Cordova</a:t>
            </a:r>
          </a:p>
          <a:p>
            <a:r>
              <a:rPr lang="en-US" dirty="0" smtClean="0"/>
              <a:t>Frameworks 101</a:t>
            </a:r>
          </a:p>
          <a:p>
            <a:r>
              <a:rPr lang="en-US" dirty="0" smtClean="0"/>
              <a:t>Tools Used</a:t>
            </a:r>
          </a:p>
          <a:p>
            <a:r>
              <a:rPr lang="en-US" dirty="0"/>
              <a:t>A</a:t>
            </a:r>
            <a:r>
              <a:rPr lang="en-US" dirty="0" smtClean="0"/>
              <a:t>ndroid &amp; iOS differences</a:t>
            </a:r>
          </a:p>
          <a:p>
            <a:r>
              <a:rPr lang="en-US" dirty="0" smtClean="0"/>
              <a:t>Project Status</a:t>
            </a:r>
          </a:p>
          <a:p>
            <a:r>
              <a:rPr lang="en-US" dirty="0" smtClean="0"/>
              <a:t>Future Enhancements</a:t>
            </a:r>
          </a:p>
          <a:p>
            <a:r>
              <a:rPr lang="en-US" dirty="0" smtClean="0"/>
              <a:t>Additional Links</a:t>
            </a:r>
          </a:p>
          <a:p>
            <a:endParaRPr lang="en-US" dirty="0" smtClean="0"/>
          </a:p>
          <a:p>
            <a:endParaRPr lang="en-US" dirty="0"/>
          </a:p>
        </p:txBody>
      </p:sp>
    </p:spTree>
    <p:extLst>
      <p:ext uri="{BB962C8B-B14F-4D97-AF65-F5344CB8AC3E}">
        <p14:creationId xmlns:p14="http://schemas.microsoft.com/office/powerpoint/2010/main" val="4418122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Cordova</a:t>
            </a:r>
            <a:endParaRPr lang="en-US" dirty="0"/>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004847" y="0"/>
            <a:ext cx="8158328" cy="3642693"/>
          </a:xfrm>
          <a:prstGeom prst="rect">
            <a:avLst/>
          </a:prstGeom>
        </p:spPr>
      </p:pic>
    </p:spTree>
    <p:extLst>
      <p:ext uri="{BB962C8B-B14F-4D97-AF65-F5344CB8AC3E}">
        <p14:creationId xmlns:p14="http://schemas.microsoft.com/office/powerpoint/2010/main" val="850792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5431536" y="5362371"/>
            <a:ext cx="6650327" cy="1450788"/>
          </a:xfrm>
          <a:prstGeom prst="rect">
            <a:avLst/>
          </a:prstGeom>
        </p:spPr>
      </p:pic>
      <p:pic>
        <p:nvPicPr>
          <p:cNvPr id="6" name="Picture 5"/>
          <p:cNvPicPr>
            <a:picLocks noChangeAspect="1"/>
          </p:cNvPicPr>
          <p:nvPr/>
        </p:nvPicPr>
        <p:blipFill>
          <a:blip r:embed="rId4"/>
          <a:stretch>
            <a:fillRect/>
          </a:stretch>
        </p:blipFill>
        <p:spPr>
          <a:xfrm>
            <a:off x="6096000" y="2824659"/>
            <a:ext cx="5297424" cy="2353269"/>
          </a:xfrm>
          <a:prstGeom prst="rect">
            <a:avLst/>
          </a:prstGeom>
        </p:spPr>
      </p:pic>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Hybrid App Development</a:t>
            </a:r>
          </a:p>
          <a:p>
            <a:r>
              <a:rPr lang="en-US" dirty="0" smtClean="0"/>
              <a:t>Platforms</a:t>
            </a:r>
          </a:p>
          <a:p>
            <a:pPr lvl="1"/>
            <a:r>
              <a:rPr lang="en-US" dirty="0" smtClean="0"/>
              <a:t>Cordova</a:t>
            </a:r>
          </a:p>
          <a:p>
            <a:pPr lvl="2"/>
            <a:r>
              <a:rPr lang="en-US" dirty="0" err="1" smtClean="0"/>
              <a:t>PhoneGap</a:t>
            </a:r>
            <a:endParaRPr lang="en-US" dirty="0" smtClean="0"/>
          </a:p>
          <a:p>
            <a:r>
              <a:rPr lang="en-US" dirty="0" smtClean="0"/>
              <a:t>Mobile Frameworks</a:t>
            </a:r>
          </a:p>
          <a:p>
            <a:pPr lvl="1"/>
            <a:r>
              <a:rPr lang="en-US" dirty="0" smtClean="0"/>
              <a:t>ionic (UI, JS)</a:t>
            </a:r>
          </a:p>
          <a:p>
            <a:pPr lvl="1"/>
            <a:r>
              <a:rPr lang="en-US" b="1" dirty="0" err="1" smtClean="0"/>
              <a:t>onsenui</a:t>
            </a:r>
            <a:r>
              <a:rPr lang="en-US" b="1" dirty="0" smtClean="0"/>
              <a:t> (UI) </a:t>
            </a:r>
            <a:r>
              <a:rPr lang="en-US" b="1" dirty="0" smtClean="0">
                <a:sym typeface="Wingdings"/>
              </a:rPr>
              <a:t> Chosen UI Framework</a:t>
            </a:r>
          </a:p>
          <a:p>
            <a:pPr lvl="1"/>
            <a:r>
              <a:rPr lang="en-US" b="1" dirty="0" smtClean="0"/>
              <a:t>AngularJS (JS) </a:t>
            </a:r>
            <a:r>
              <a:rPr lang="en-US" b="1" dirty="0" smtClean="0">
                <a:sym typeface="Wingdings"/>
              </a:rPr>
              <a:t> Chosen JS Framework</a:t>
            </a:r>
          </a:p>
          <a:p>
            <a:pPr lvl="1"/>
            <a:r>
              <a:rPr lang="en-US" b="1" dirty="0" smtClean="0">
                <a:sym typeface="Wingdings"/>
              </a:rPr>
              <a:t>jQuery (Library)  Chosen Networking/JS Framework</a:t>
            </a:r>
            <a:endParaRPr lang="en-US" b="1" dirty="0" smtClean="0"/>
          </a:p>
          <a:p>
            <a:pPr lvl="1"/>
            <a:r>
              <a:rPr lang="en-US" dirty="0" err="1" smtClean="0"/>
              <a:t>jquery</a:t>
            </a:r>
            <a:r>
              <a:rPr lang="en-US" dirty="0" smtClean="0"/>
              <a:t> mobile (UI, Client)</a:t>
            </a:r>
            <a:endParaRPr lang="en-US" dirty="0"/>
          </a:p>
        </p:txBody>
      </p:sp>
      <p:pic>
        <p:nvPicPr>
          <p:cNvPr id="4" name="Picture 3"/>
          <p:cNvPicPr>
            <a:picLocks noChangeAspect="1"/>
          </p:cNvPicPr>
          <p:nvPr/>
        </p:nvPicPr>
        <p:blipFill>
          <a:blip r:embed="rId5"/>
          <a:stretch>
            <a:fillRect/>
          </a:stretch>
        </p:blipFill>
        <p:spPr>
          <a:xfrm>
            <a:off x="5233416" y="191294"/>
            <a:ext cx="3100546" cy="3100546"/>
          </a:xfrm>
          <a:prstGeom prst="rect">
            <a:avLst/>
          </a:prstGeom>
        </p:spPr>
      </p:pic>
      <p:pic>
        <p:nvPicPr>
          <p:cNvPr id="5" name="Picture 4"/>
          <p:cNvPicPr>
            <a:picLocks noChangeAspect="1"/>
          </p:cNvPicPr>
          <p:nvPr/>
        </p:nvPicPr>
        <p:blipFill>
          <a:blip r:embed="rId6"/>
          <a:stretch>
            <a:fillRect/>
          </a:stretch>
        </p:blipFill>
        <p:spPr>
          <a:xfrm>
            <a:off x="10893996" y="4198022"/>
            <a:ext cx="1298004" cy="1298004"/>
          </a:xfrm>
          <a:prstGeom prst="rect">
            <a:avLst/>
          </a:prstGeom>
        </p:spPr>
      </p:pic>
      <p:pic>
        <p:nvPicPr>
          <p:cNvPr id="8" name="Picture 7"/>
          <p:cNvPicPr>
            <a:picLocks noChangeAspect="1"/>
          </p:cNvPicPr>
          <p:nvPr/>
        </p:nvPicPr>
        <p:blipFill>
          <a:blip r:embed="rId7"/>
          <a:stretch>
            <a:fillRect/>
          </a:stretch>
        </p:blipFill>
        <p:spPr>
          <a:xfrm>
            <a:off x="8545897" y="432168"/>
            <a:ext cx="2997101" cy="2997101"/>
          </a:xfrm>
          <a:prstGeom prst="rect">
            <a:avLst/>
          </a:prstGeom>
        </p:spPr>
      </p:pic>
    </p:spTree>
    <p:extLst>
      <p:ext uri="{BB962C8B-B14F-4D97-AF65-F5344CB8AC3E}">
        <p14:creationId xmlns:p14="http://schemas.microsoft.com/office/powerpoint/2010/main" val="11685779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Folder structure of Cordova Projects</a:t>
            </a:r>
            <a:endParaRPr lang="en-US" dirty="0"/>
          </a:p>
        </p:txBody>
      </p:sp>
      <p:sp>
        <p:nvSpPr>
          <p:cNvPr id="3" name="Content Placeholder 2"/>
          <p:cNvSpPr>
            <a:spLocks noGrp="1"/>
          </p:cNvSpPr>
          <p:nvPr>
            <p:ph idx="1"/>
          </p:nvPr>
        </p:nvSpPr>
        <p:spPr/>
        <p:txBody>
          <a:bodyPr>
            <a:normAutofit lnSpcReduction="10000"/>
          </a:bodyPr>
          <a:lstStyle/>
          <a:p>
            <a:r>
              <a:rPr lang="en-US" dirty="0" smtClean="0"/>
              <a:t>www</a:t>
            </a:r>
          </a:p>
          <a:p>
            <a:pPr lvl="1"/>
            <a:r>
              <a:rPr lang="en-US" dirty="0" err="1" smtClean="0"/>
              <a:t>config.xml</a:t>
            </a:r>
            <a:endParaRPr lang="en-US" dirty="0" smtClean="0"/>
          </a:p>
          <a:p>
            <a:pPr lvl="1"/>
            <a:r>
              <a:rPr lang="en-US" dirty="0" err="1" smtClean="0"/>
              <a:t>index.html</a:t>
            </a:r>
            <a:endParaRPr lang="en-US" dirty="0" smtClean="0"/>
          </a:p>
          <a:p>
            <a:r>
              <a:rPr lang="en-US" dirty="0"/>
              <a:t>p</a:t>
            </a:r>
            <a:r>
              <a:rPr lang="en-US" dirty="0" smtClean="0"/>
              <a:t>latforms</a:t>
            </a:r>
          </a:p>
          <a:p>
            <a:pPr lvl="1"/>
            <a:r>
              <a:rPr lang="en-US" dirty="0"/>
              <a:t>a</a:t>
            </a:r>
            <a:r>
              <a:rPr lang="en-US" dirty="0" smtClean="0"/>
              <a:t>ndroid</a:t>
            </a:r>
          </a:p>
          <a:p>
            <a:pPr lvl="1"/>
            <a:r>
              <a:rPr lang="en-US" dirty="0" err="1" smtClean="0"/>
              <a:t>ios</a:t>
            </a:r>
            <a:endParaRPr lang="en-US" dirty="0"/>
          </a:p>
          <a:p>
            <a:r>
              <a:rPr lang="en-US" dirty="0" smtClean="0"/>
              <a:t>plugins</a:t>
            </a:r>
          </a:p>
          <a:p>
            <a:r>
              <a:rPr lang="en-US" dirty="0" smtClean="0"/>
              <a:t>hooks</a:t>
            </a:r>
          </a:p>
          <a:p>
            <a:r>
              <a:rPr lang="en-US" dirty="0" smtClean="0"/>
              <a:t>merges</a:t>
            </a:r>
          </a:p>
          <a:p>
            <a:r>
              <a:rPr lang="en-US" i="1" dirty="0" err="1" smtClean="0"/>
              <a:t>custom_plugin</a:t>
            </a:r>
            <a:endParaRPr lang="en-US" i="1" dirty="0"/>
          </a:p>
        </p:txBody>
      </p:sp>
    </p:spTree>
    <p:extLst>
      <p:ext uri="{BB962C8B-B14F-4D97-AF65-F5344CB8AC3E}">
        <p14:creationId xmlns:p14="http://schemas.microsoft.com/office/powerpoint/2010/main" val="11814701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Initialisation</a:t>
            </a:r>
            <a:r>
              <a:rPr lang="en-US" dirty="0" smtClean="0"/>
              <a:t> Sequence</a:t>
            </a:r>
            <a:endParaRPr lang="en-US" dirty="0"/>
          </a:p>
        </p:txBody>
      </p:sp>
      <p:sp>
        <p:nvSpPr>
          <p:cNvPr id="3" name="Content Placeholder 2"/>
          <p:cNvSpPr>
            <a:spLocks noGrp="1"/>
          </p:cNvSpPr>
          <p:nvPr>
            <p:ph idx="1"/>
          </p:nvPr>
        </p:nvSpPr>
        <p:spPr>
          <a:xfrm>
            <a:off x="838200" y="1825625"/>
            <a:ext cx="4333875" cy="4351338"/>
          </a:xfrm>
        </p:spPr>
        <p:txBody>
          <a:bodyPr>
            <a:normAutofit lnSpcReduction="10000"/>
          </a:bodyPr>
          <a:lstStyle/>
          <a:p>
            <a:pPr marL="514350" indent="-514350">
              <a:buFont typeface="+mj-lt"/>
              <a:buAutoNum type="arabicPeriod"/>
            </a:pPr>
            <a:r>
              <a:rPr lang="en-US" dirty="0" smtClean="0"/>
              <a:t>Click On App in App List</a:t>
            </a:r>
          </a:p>
          <a:p>
            <a:pPr marL="514350" indent="-514350">
              <a:buFont typeface="+mj-lt"/>
              <a:buAutoNum type="arabicPeriod"/>
            </a:pPr>
            <a:r>
              <a:rPr lang="en-US" dirty="0" smtClean="0"/>
              <a:t>Launch App </a:t>
            </a:r>
            <a:r>
              <a:rPr lang="en-US" dirty="0" err="1" smtClean="0"/>
              <a:t>WebView</a:t>
            </a:r>
            <a:endParaRPr lang="en-US" dirty="0" smtClean="0"/>
          </a:p>
          <a:p>
            <a:pPr marL="514350" indent="-514350">
              <a:buFont typeface="+mj-lt"/>
              <a:buAutoNum type="arabicPeriod"/>
            </a:pPr>
            <a:r>
              <a:rPr lang="en-US" dirty="0" err="1" smtClean="0"/>
              <a:t>Webview</a:t>
            </a:r>
            <a:r>
              <a:rPr lang="en-US" dirty="0" smtClean="0"/>
              <a:t> Loads Splash Screen</a:t>
            </a:r>
          </a:p>
          <a:p>
            <a:pPr marL="514350" indent="-514350">
              <a:buFont typeface="+mj-lt"/>
              <a:buAutoNum type="arabicPeriod"/>
            </a:pPr>
            <a:r>
              <a:rPr lang="en-US" dirty="0" smtClean="0"/>
              <a:t>Load </a:t>
            </a:r>
            <a:r>
              <a:rPr lang="en-US" dirty="0" err="1" smtClean="0"/>
              <a:t>index.html</a:t>
            </a:r>
            <a:endParaRPr lang="en-US" dirty="0" smtClean="0"/>
          </a:p>
          <a:p>
            <a:pPr marL="971550" lvl="1" indent="-514350">
              <a:buFont typeface="+mj-lt"/>
              <a:buAutoNum type="arabicPeriod"/>
            </a:pPr>
            <a:r>
              <a:rPr lang="en-US" dirty="0" err="1" smtClean="0"/>
              <a:t>Javascript</a:t>
            </a:r>
            <a:r>
              <a:rPr lang="en-US" dirty="0" smtClean="0"/>
              <a:t> Libraries</a:t>
            </a:r>
          </a:p>
          <a:p>
            <a:pPr marL="971550" lvl="1" indent="-514350">
              <a:buFont typeface="+mj-lt"/>
              <a:buAutoNum type="arabicPeriod"/>
            </a:pPr>
            <a:r>
              <a:rPr lang="en-US" dirty="0" smtClean="0"/>
              <a:t>CSS Libraries</a:t>
            </a:r>
          </a:p>
          <a:p>
            <a:pPr marL="514350" indent="-514350">
              <a:buFont typeface="+mj-lt"/>
              <a:buAutoNum type="arabicPeriod"/>
            </a:pPr>
            <a:r>
              <a:rPr lang="en-US" dirty="0" smtClean="0"/>
              <a:t>Load </a:t>
            </a:r>
            <a:r>
              <a:rPr lang="en-US" dirty="0" err="1" smtClean="0"/>
              <a:t>OnsenUI</a:t>
            </a:r>
            <a:endParaRPr lang="en-US" dirty="0" smtClean="0"/>
          </a:p>
          <a:p>
            <a:pPr marL="514350" indent="-514350">
              <a:buFont typeface="+mj-lt"/>
              <a:buAutoNum type="arabicPeriod"/>
            </a:pPr>
            <a:r>
              <a:rPr lang="en-US" dirty="0" smtClean="0"/>
              <a:t>Load Home Screen/Login &amp; Signup Page</a:t>
            </a:r>
          </a:p>
        </p:txBody>
      </p:sp>
      <p:pic>
        <p:nvPicPr>
          <p:cNvPr id="4" name="Picture 3"/>
          <p:cNvPicPr>
            <a:picLocks noChangeAspect="1"/>
          </p:cNvPicPr>
          <p:nvPr/>
        </p:nvPicPr>
        <p:blipFill>
          <a:blip r:embed="rId2"/>
          <a:stretch>
            <a:fillRect/>
          </a:stretch>
        </p:blipFill>
        <p:spPr>
          <a:xfrm>
            <a:off x="5318106" y="1419224"/>
            <a:ext cx="6873894" cy="5438775"/>
          </a:xfrm>
          <a:prstGeom prst="rect">
            <a:avLst/>
          </a:prstGeom>
        </p:spPr>
      </p:pic>
    </p:spTree>
    <p:extLst>
      <p:ext uri="{BB962C8B-B14F-4D97-AF65-F5344CB8AC3E}">
        <p14:creationId xmlns:p14="http://schemas.microsoft.com/office/powerpoint/2010/main" val="4322891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405871" cy="1325563"/>
          </a:xfrm>
        </p:spPr>
        <p:txBody>
          <a:bodyPr>
            <a:normAutofit fontScale="90000"/>
          </a:bodyPr>
          <a:lstStyle/>
          <a:p>
            <a:r>
              <a:rPr lang="en-US" dirty="0" smtClean="0"/>
              <a:t>waterfall: Layers of Application</a:t>
            </a:r>
            <a:endParaRPr lang="en-US" dirty="0"/>
          </a:p>
        </p:txBody>
      </p:sp>
      <p:pic>
        <p:nvPicPr>
          <p:cNvPr id="9" name="Picture 8"/>
          <p:cNvPicPr>
            <a:picLocks noChangeAspect="1"/>
          </p:cNvPicPr>
          <p:nvPr/>
        </p:nvPicPr>
        <p:blipFill>
          <a:blip r:embed="rId2"/>
          <a:stretch>
            <a:fillRect/>
          </a:stretch>
        </p:blipFill>
        <p:spPr>
          <a:xfrm>
            <a:off x="5652160" y="0"/>
            <a:ext cx="4983429" cy="6858000"/>
          </a:xfrm>
          <a:prstGeom prst="rect">
            <a:avLst/>
          </a:prstGeom>
        </p:spPr>
      </p:pic>
    </p:spTree>
    <p:extLst>
      <p:ext uri="{BB962C8B-B14F-4D97-AF65-F5344CB8AC3E}">
        <p14:creationId xmlns:p14="http://schemas.microsoft.com/office/powerpoint/2010/main" val="19859764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Frameworks 101</a:t>
            </a:r>
          </a:p>
        </p:txBody>
      </p:sp>
      <p:sp>
        <p:nvSpPr>
          <p:cNvPr id="3" name="Text Placeholder 2"/>
          <p:cNvSpPr>
            <a:spLocks noGrp="1"/>
          </p:cNvSpPr>
          <p:nvPr>
            <p:ph type="body" idx="1"/>
          </p:nvPr>
        </p:nvSpPr>
        <p:spPr/>
        <p:txBody>
          <a:bodyPr/>
          <a:lstStyle/>
          <a:p>
            <a:r>
              <a:rPr lang="en-US" dirty="0" err="1" smtClean="0"/>
              <a:t>Onsen</a:t>
            </a:r>
            <a:r>
              <a:rPr lang="en-US" dirty="0" smtClean="0"/>
              <a:t> UI Framework + AngularJS</a:t>
            </a:r>
            <a:endParaRPr lang="en-US" dirty="0"/>
          </a:p>
        </p:txBody>
      </p:sp>
      <p:pic>
        <p:nvPicPr>
          <p:cNvPr id="4" name="Picture 3"/>
          <p:cNvPicPr>
            <a:picLocks noChangeAspect="1"/>
          </p:cNvPicPr>
          <p:nvPr/>
        </p:nvPicPr>
        <p:blipFill>
          <a:blip r:embed="rId2"/>
          <a:stretch>
            <a:fillRect/>
          </a:stretch>
        </p:blipFill>
        <p:spPr>
          <a:xfrm>
            <a:off x="831850" y="422275"/>
            <a:ext cx="10985500" cy="2921000"/>
          </a:xfrm>
          <a:prstGeom prst="rect">
            <a:avLst/>
          </a:prstGeom>
        </p:spPr>
      </p:pic>
    </p:spTree>
    <p:extLst>
      <p:ext uri="{BB962C8B-B14F-4D97-AF65-F5344CB8AC3E}">
        <p14:creationId xmlns:p14="http://schemas.microsoft.com/office/powerpoint/2010/main" val="11852867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err="1" smtClean="0"/>
              <a:t>OnsenUI</a:t>
            </a:r>
            <a:endParaRPr lang="en-US" dirty="0"/>
          </a:p>
        </p:txBody>
      </p:sp>
      <p:sp>
        <p:nvSpPr>
          <p:cNvPr id="7" name="Content Placeholder 6"/>
          <p:cNvSpPr>
            <a:spLocks noGrp="1"/>
          </p:cNvSpPr>
          <p:nvPr>
            <p:ph idx="1"/>
          </p:nvPr>
        </p:nvSpPr>
        <p:spPr/>
        <p:txBody>
          <a:bodyPr/>
          <a:lstStyle/>
          <a:p>
            <a:r>
              <a:rPr lang="en-US" dirty="0" smtClean="0"/>
              <a:t>UI Framework</a:t>
            </a:r>
          </a:p>
          <a:p>
            <a:pPr lvl="1"/>
            <a:r>
              <a:rPr lang="en-US" dirty="0" smtClean="0"/>
              <a:t>Excellent Documentation</a:t>
            </a:r>
          </a:p>
          <a:p>
            <a:pPr lvl="1"/>
            <a:r>
              <a:rPr lang="en-US" dirty="0" smtClean="0"/>
              <a:t>V1 Released, V2 in Beta during development of waterfall</a:t>
            </a:r>
          </a:p>
          <a:p>
            <a:r>
              <a:rPr lang="en-US" dirty="0" smtClean="0"/>
              <a:t>Compatible </a:t>
            </a:r>
            <a:r>
              <a:rPr lang="en-US" dirty="0" err="1" smtClean="0"/>
              <a:t>Javascript</a:t>
            </a:r>
            <a:r>
              <a:rPr lang="en-US" dirty="0" smtClean="0"/>
              <a:t> Frameworks</a:t>
            </a:r>
          </a:p>
          <a:p>
            <a:pPr lvl="1"/>
            <a:r>
              <a:rPr lang="en-US" b="1" u="sng" dirty="0" smtClean="0"/>
              <a:t>AngularJS</a:t>
            </a:r>
          </a:p>
          <a:p>
            <a:pPr lvl="1"/>
            <a:r>
              <a:rPr lang="en-US" dirty="0" smtClean="0"/>
              <a:t>Angular 2</a:t>
            </a:r>
          </a:p>
          <a:p>
            <a:pPr lvl="1"/>
            <a:r>
              <a:rPr lang="en-US" dirty="0" smtClean="0"/>
              <a:t>React</a:t>
            </a:r>
          </a:p>
          <a:p>
            <a:pPr lvl="1"/>
            <a:r>
              <a:rPr lang="en-US" dirty="0" err="1" smtClean="0"/>
              <a:t>Vue.js</a:t>
            </a:r>
            <a:endParaRPr lang="en-US" dirty="0" smtClean="0"/>
          </a:p>
          <a:p>
            <a:pPr lvl="1"/>
            <a:r>
              <a:rPr lang="en-US" dirty="0" smtClean="0"/>
              <a:t>Meteor</a:t>
            </a:r>
          </a:p>
          <a:p>
            <a:pPr lvl="1"/>
            <a:endParaRPr lang="en-US" dirty="0"/>
          </a:p>
        </p:txBody>
      </p:sp>
      <p:pic>
        <p:nvPicPr>
          <p:cNvPr id="8" name="Picture 7"/>
          <p:cNvPicPr>
            <a:picLocks noChangeAspect="1"/>
          </p:cNvPicPr>
          <p:nvPr/>
        </p:nvPicPr>
        <p:blipFill>
          <a:blip r:embed="rId2"/>
          <a:stretch>
            <a:fillRect/>
          </a:stretch>
        </p:blipFill>
        <p:spPr>
          <a:xfrm>
            <a:off x="1892299" y="4362450"/>
            <a:ext cx="10320151" cy="2263775"/>
          </a:xfrm>
          <a:prstGeom prst="rect">
            <a:avLst/>
          </a:prstGeom>
        </p:spPr>
      </p:pic>
    </p:spTree>
    <p:extLst>
      <p:ext uri="{BB962C8B-B14F-4D97-AF65-F5344CB8AC3E}">
        <p14:creationId xmlns:p14="http://schemas.microsoft.com/office/powerpoint/2010/main" val="15353916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OnsenUI</a:t>
            </a:r>
            <a:r>
              <a:rPr lang="en-US" dirty="0" smtClean="0"/>
              <a:t> – Key Components Used</a:t>
            </a:r>
            <a:endParaRPr lang="en-US" dirty="0"/>
          </a:p>
        </p:txBody>
      </p:sp>
      <p:sp>
        <p:nvSpPr>
          <p:cNvPr id="3" name="Content Placeholder 2"/>
          <p:cNvSpPr>
            <a:spLocks noGrp="1"/>
          </p:cNvSpPr>
          <p:nvPr>
            <p:ph idx="1"/>
          </p:nvPr>
        </p:nvSpPr>
        <p:spPr/>
        <p:txBody>
          <a:bodyPr/>
          <a:lstStyle/>
          <a:p>
            <a:r>
              <a:rPr lang="en-US" dirty="0" err="1" smtClean="0"/>
              <a:t>ons</a:t>
            </a:r>
            <a:r>
              <a:rPr lang="en-US" dirty="0" smtClean="0"/>
              <a:t>-sliding-menu</a:t>
            </a:r>
          </a:p>
          <a:p>
            <a:r>
              <a:rPr lang="en-US" dirty="0" err="1" smtClean="0"/>
              <a:t>ons</a:t>
            </a:r>
            <a:r>
              <a:rPr lang="en-US" dirty="0" smtClean="0"/>
              <a:t>-list</a:t>
            </a:r>
          </a:p>
          <a:p>
            <a:pPr lvl="1"/>
            <a:r>
              <a:rPr lang="en-US" dirty="0" smtClean="0"/>
              <a:t>lazy-repeat</a:t>
            </a:r>
          </a:p>
          <a:p>
            <a:pPr lvl="1"/>
            <a:r>
              <a:rPr lang="en-US" dirty="0" smtClean="0"/>
              <a:t>ng-repeat</a:t>
            </a:r>
          </a:p>
          <a:p>
            <a:r>
              <a:rPr lang="en-US" dirty="0" err="1" smtClean="0"/>
              <a:t>ons</a:t>
            </a:r>
            <a:r>
              <a:rPr lang="en-US" dirty="0" smtClean="0"/>
              <a:t>-dialog</a:t>
            </a:r>
          </a:p>
          <a:p>
            <a:r>
              <a:rPr lang="en-US" dirty="0" err="1" smtClean="0"/>
              <a:t>ons</a:t>
            </a:r>
            <a:r>
              <a:rPr lang="en-US" dirty="0" smtClean="0"/>
              <a:t>-alert-dialog</a:t>
            </a:r>
          </a:p>
          <a:p>
            <a:endParaRPr lang="en-US" dirty="0"/>
          </a:p>
        </p:txBody>
      </p:sp>
      <p:pic>
        <p:nvPicPr>
          <p:cNvPr id="5" name="Picture 4"/>
          <p:cNvPicPr>
            <a:picLocks noChangeAspect="1"/>
          </p:cNvPicPr>
          <p:nvPr/>
        </p:nvPicPr>
        <p:blipFill>
          <a:blip r:embed="rId2"/>
          <a:stretch>
            <a:fillRect/>
          </a:stretch>
        </p:blipFill>
        <p:spPr>
          <a:xfrm>
            <a:off x="8324850" y="2435225"/>
            <a:ext cx="3505200" cy="4140200"/>
          </a:xfrm>
          <a:prstGeom prst="rect">
            <a:avLst/>
          </a:prstGeom>
        </p:spPr>
      </p:pic>
    </p:spTree>
    <p:extLst>
      <p:ext uri="{BB962C8B-B14F-4D97-AF65-F5344CB8AC3E}">
        <p14:creationId xmlns:p14="http://schemas.microsoft.com/office/powerpoint/2010/main" val="15061553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AngularJS</a:t>
            </a:r>
            <a:endParaRPr lang="en-US" dirty="0"/>
          </a:p>
        </p:txBody>
      </p:sp>
      <p:sp>
        <p:nvSpPr>
          <p:cNvPr id="3" name="Content Placeholder 2"/>
          <p:cNvSpPr>
            <a:spLocks noGrp="1"/>
          </p:cNvSpPr>
          <p:nvPr>
            <p:ph idx="1"/>
          </p:nvPr>
        </p:nvSpPr>
        <p:spPr/>
        <p:txBody>
          <a:bodyPr/>
          <a:lstStyle/>
          <a:p>
            <a:r>
              <a:rPr lang="en-US" dirty="0" smtClean="0"/>
              <a:t>Follows MVC Principle</a:t>
            </a:r>
          </a:p>
          <a:p>
            <a:pPr lvl="1"/>
            <a:r>
              <a:rPr lang="en-US" dirty="0" smtClean="0"/>
              <a:t>Controllers</a:t>
            </a:r>
          </a:p>
          <a:p>
            <a:pPr lvl="1"/>
            <a:r>
              <a:rPr lang="en-US" dirty="0" smtClean="0"/>
              <a:t>Services</a:t>
            </a:r>
          </a:p>
          <a:p>
            <a:pPr lvl="1"/>
            <a:r>
              <a:rPr lang="en-US" dirty="0" smtClean="0"/>
              <a:t>Directives</a:t>
            </a:r>
          </a:p>
          <a:p>
            <a:r>
              <a:rPr lang="en-US" dirty="0" smtClean="0"/>
              <a:t>Extend HTML</a:t>
            </a:r>
          </a:p>
          <a:p>
            <a:r>
              <a:rPr lang="en-US" dirty="0" smtClean="0"/>
              <a:t>High </a:t>
            </a:r>
            <a:r>
              <a:rPr lang="en-US" dirty="0" err="1" smtClean="0"/>
              <a:t>lvl</a:t>
            </a:r>
            <a:r>
              <a:rPr lang="en-US" dirty="0" smtClean="0"/>
              <a:t> of Abstraction</a:t>
            </a:r>
          </a:p>
          <a:p>
            <a:endParaRPr lang="en-US" dirty="0"/>
          </a:p>
        </p:txBody>
      </p:sp>
      <p:pic>
        <p:nvPicPr>
          <p:cNvPr id="4" name="Picture 3"/>
          <p:cNvPicPr>
            <a:picLocks noChangeAspect="1"/>
          </p:cNvPicPr>
          <p:nvPr/>
        </p:nvPicPr>
        <p:blipFill>
          <a:blip r:embed="rId2"/>
          <a:stretch>
            <a:fillRect/>
          </a:stretch>
        </p:blipFill>
        <p:spPr>
          <a:xfrm>
            <a:off x="4857750" y="2777728"/>
            <a:ext cx="7016750" cy="3946922"/>
          </a:xfrm>
          <a:prstGeom prst="rect">
            <a:avLst/>
          </a:prstGeom>
        </p:spPr>
      </p:pic>
    </p:spTree>
    <p:extLst>
      <p:ext uri="{BB962C8B-B14F-4D97-AF65-F5344CB8AC3E}">
        <p14:creationId xmlns:p14="http://schemas.microsoft.com/office/powerpoint/2010/main" val="2988393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AngularJS - Controllers</a:t>
            </a:r>
            <a:endParaRPr lang="en-US" dirty="0"/>
          </a:p>
        </p:txBody>
      </p:sp>
      <p:sp>
        <p:nvSpPr>
          <p:cNvPr id="3" name="Content Placeholder 2"/>
          <p:cNvSpPr>
            <a:spLocks noGrp="1"/>
          </p:cNvSpPr>
          <p:nvPr>
            <p:ph idx="1"/>
          </p:nvPr>
        </p:nvSpPr>
        <p:spPr>
          <a:xfrm>
            <a:off x="838200" y="1825625"/>
            <a:ext cx="5800344" cy="4351338"/>
          </a:xfrm>
        </p:spPr>
        <p:txBody>
          <a:bodyPr/>
          <a:lstStyle/>
          <a:p>
            <a:r>
              <a:rPr lang="en-US" dirty="0" smtClean="0"/>
              <a:t>1 Core App Object </a:t>
            </a:r>
            <a:r>
              <a:rPr lang="en-US" dirty="0" smtClean="0">
                <a:sym typeface="Wingdings"/>
              </a:rPr>
              <a:t> Declare Controller</a:t>
            </a:r>
          </a:p>
          <a:p>
            <a:pPr lvl="1"/>
            <a:r>
              <a:rPr lang="en-US" dirty="0" err="1" smtClean="0">
                <a:sym typeface="Wingdings"/>
              </a:rPr>
              <a:t>Onsen</a:t>
            </a:r>
            <a:r>
              <a:rPr lang="en-US" dirty="0" smtClean="0">
                <a:sym typeface="Wingdings"/>
              </a:rPr>
              <a:t> Bootstrap</a:t>
            </a:r>
            <a:endParaRPr lang="en-US" dirty="0" smtClean="0"/>
          </a:p>
          <a:p>
            <a:r>
              <a:rPr lang="en-US" dirty="0" smtClean="0"/>
              <a:t>Load HTML Page </a:t>
            </a:r>
            <a:r>
              <a:rPr lang="en-US" dirty="0" smtClean="0">
                <a:sym typeface="Wingdings"/>
              </a:rPr>
              <a:t> Load Controller (ng-controller)</a:t>
            </a:r>
          </a:p>
          <a:p>
            <a:r>
              <a:rPr lang="en-US" dirty="0" smtClean="0">
                <a:sym typeface="Wingdings"/>
              </a:rPr>
              <a:t>Each controller </a:t>
            </a:r>
          </a:p>
          <a:p>
            <a:pPr lvl="1"/>
            <a:r>
              <a:rPr lang="en-US" dirty="0" smtClean="0">
                <a:sym typeface="Wingdings"/>
              </a:rPr>
              <a:t>1 HTML file</a:t>
            </a:r>
          </a:p>
          <a:p>
            <a:pPr lvl="1"/>
            <a:r>
              <a:rPr lang="en-US" dirty="0" smtClean="0">
                <a:sym typeface="Wingdings"/>
              </a:rPr>
              <a:t>Sequence of files (</a:t>
            </a:r>
            <a:r>
              <a:rPr lang="en-US" dirty="0" err="1" smtClean="0">
                <a:sym typeface="Wingdings"/>
              </a:rPr>
              <a:t>ons</a:t>
            </a:r>
            <a:r>
              <a:rPr lang="en-US" dirty="0" smtClean="0">
                <a:sym typeface="Wingdings"/>
              </a:rPr>
              <a:t>-navigator)</a:t>
            </a:r>
          </a:p>
          <a:p>
            <a:endParaRPr lang="en-US" dirty="0" smtClean="0">
              <a:sym typeface="Wingdings"/>
            </a:endParaRPr>
          </a:p>
          <a:p>
            <a:endParaRPr lang="en-US" dirty="0"/>
          </a:p>
        </p:txBody>
      </p:sp>
      <p:pic>
        <p:nvPicPr>
          <p:cNvPr id="4" name="Picture 3"/>
          <p:cNvPicPr>
            <a:picLocks noChangeAspect="1"/>
          </p:cNvPicPr>
          <p:nvPr/>
        </p:nvPicPr>
        <p:blipFill>
          <a:blip r:embed="rId2"/>
          <a:stretch>
            <a:fillRect/>
          </a:stretch>
        </p:blipFill>
        <p:spPr>
          <a:xfrm>
            <a:off x="6070600" y="2417763"/>
            <a:ext cx="6121400" cy="3759200"/>
          </a:xfrm>
          <a:prstGeom prst="rect">
            <a:avLst/>
          </a:prstGeom>
        </p:spPr>
      </p:pic>
    </p:spTree>
    <p:extLst>
      <p:ext uri="{BB962C8B-B14F-4D97-AF65-F5344CB8AC3E}">
        <p14:creationId xmlns:p14="http://schemas.microsoft.com/office/powerpoint/2010/main" val="7653647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295650" cy="2587625"/>
          </a:xfrm>
        </p:spPr>
        <p:txBody>
          <a:bodyPr>
            <a:normAutofit/>
          </a:bodyPr>
          <a:lstStyle/>
          <a:p>
            <a:r>
              <a:rPr lang="en-US" dirty="0" smtClean="0"/>
              <a:t>waterfall Controllers – General Flow</a:t>
            </a:r>
            <a:endParaRPr lang="en-US" dirty="0"/>
          </a:p>
        </p:txBody>
      </p:sp>
      <p:pic>
        <p:nvPicPr>
          <p:cNvPr id="3" name="Picture 2"/>
          <p:cNvPicPr>
            <a:picLocks noChangeAspect="1"/>
          </p:cNvPicPr>
          <p:nvPr/>
        </p:nvPicPr>
        <p:blipFill>
          <a:blip r:embed="rId2"/>
          <a:stretch>
            <a:fillRect/>
          </a:stretch>
        </p:blipFill>
        <p:spPr>
          <a:xfrm>
            <a:off x="6049268" y="0"/>
            <a:ext cx="5653015" cy="6858000"/>
          </a:xfrm>
          <a:prstGeom prst="rect">
            <a:avLst/>
          </a:prstGeom>
        </p:spPr>
      </p:pic>
    </p:spTree>
    <p:extLst>
      <p:ext uri="{BB962C8B-B14F-4D97-AF65-F5344CB8AC3E}">
        <p14:creationId xmlns:p14="http://schemas.microsoft.com/office/powerpoint/2010/main" val="20917557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376672" y="677132"/>
            <a:ext cx="6815328" cy="6180868"/>
          </a:xfrm>
          <a:prstGeom prst="rect">
            <a:avLst/>
          </a:prstGeom>
        </p:spPr>
      </p:pic>
      <p:sp>
        <p:nvSpPr>
          <p:cNvPr id="2" name="Title 1"/>
          <p:cNvSpPr>
            <a:spLocks noGrp="1"/>
          </p:cNvSpPr>
          <p:nvPr>
            <p:ph type="title"/>
          </p:nvPr>
        </p:nvSpPr>
        <p:spPr/>
        <p:txBody>
          <a:bodyPr/>
          <a:lstStyle/>
          <a:p>
            <a:r>
              <a:rPr lang="en-US" dirty="0" smtClean="0"/>
              <a:t>Services</a:t>
            </a:r>
            <a:endParaRPr lang="en-US" dirty="0"/>
          </a:p>
        </p:txBody>
      </p:sp>
      <p:sp>
        <p:nvSpPr>
          <p:cNvPr id="3" name="Content Placeholder 2"/>
          <p:cNvSpPr>
            <a:spLocks noGrp="1"/>
          </p:cNvSpPr>
          <p:nvPr>
            <p:ph idx="1"/>
          </p:nvPr>
        </p:nvSpPr>
        <p:spPr>
          <a:xfrm>
            <a:off x="838200" y="1825625"/>
            <a:ext cx="4977384" cy="4351338"/>
          </a:xfrm>
        </p:spPr>
        <p:txBody>
          <a:bodyPr/>
          <a:lstStyle/>
          <a:p>
            <a:r>
              <a:rPr lang="en-US" dirty="0" smtClean="0"/>
              <a:t>persistence through app lifecycle</a:t>
            </a:r>
          </a:p>
          <a:p>
            <a:r>
              <a:rPr lang="en-US" dirty="0" smtClean="0"/>
              <a:t>dependency injection for controller</a:t>
            </a:r>
          </a:p>
          <a:p>
            <a:r>
              <a:rPr lang="en-US" dirty="0" smtClean="0"/>
              <a:t>waterfall</a:t>
            </a:r>
          </a:p>
          <a:p>
            <a:pPr lvl="1"/>
            <a:r>
              <a:rPr lang="en-US" dirty="0" smtClean="0"/>
              <a:t>Networking</a:t>
            </a:r>
          </a:p>
          <a:p>
            <a:pPr lvl="1"/>
            <a:r>
              <a:rPr lang="en-US" dirty="0" smtClean="0"/>
              <a:t>User Credentials</a:t>
            </a:r>
          </a:p>
          <a:p>
            <a:pPr lvl="1"/>
            <a:r>
              <a:rPr lang="en-US" dirty="0" smtClean="0"/>
              <a:t>Alerts</a:t>
            </a:r>
          </a:p>
          <a:p>
            <a:pPr lvl="1"/>
            <a:r>
              <a:rPr lang="en-US" dirty="0" smtClean="0"/>
              <a:t>Persistent Database</a:t>
            </a:r>
            <a:endParaRPr lang="en-US" dirty="0"/>
          </a:p>
        </p:txBody>
      </p:sp>
    </p:spTree>
    <p:extLst>
      <p:ext uri="{BB962C8B-B14F-4D97-AF65-F5344CB8AC3E}">
        <p14:creationId xmlns:p14="http://schemas.microsoft.com/office/powerpoint/2010/main" val="4048084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3833"/>
            <a:ext cx="3630561" cy="1325563"/>
          </a:xfrm>
        </p:spPr>
        <p:txBody>
          <a:bodyPr>
            <a:normAutofit fontScale="90000"/>
          </a:bodyPr>
          <a:lstStyle/>
          <a:p>
            <a:r>
              <a:rPr lang="en-US" dirty="0" smtClean="0"/>
              <a:t>Controller &amp; Services Relationship:</a:t>
            </a:r>
            <a:br>
              <a:rPr lang="en-US" dirty="0" smtClean="0"/>
            </a:br>
            <a:r>
              <a:rPr lang="en-US" dirty="0" smtClean="0"/>
              <a:t>Example</a:t>
            </a:r>
            <a:endParaRPr lang="en-US" dirty="0"/>
          </a:p>
        </p:txBody>
      </p:sp>
      <p:pic>
        <p:nvPicPr>
          <p:cNvPr id="4" name="Picture 3"/>
          <p:cNvPicPr>
            <a:picLocks noChangeAspect="1"/>
          </p:cNvPicPr>
          <p:nvPr/>
        </p:nvPicPr>
        <p:blipFill>
          <a:blip r:embed="rId2"/>
          <a:stretch>
            <a:fillRect/>
          </a:stretch>
        </p:blipFill>
        <p:spPr>
          <a:xfrm>
            <a:off x="4101690" y="433490"/>
            <a:ext cx="7823200" cy="5994400"/>
          </a:xfrm>
          <a:prstGeom prst="rect">
            <a:avLst/>
          </a:prstGeom>
        </p:spPr>
      </p:pic>
    </p:spTree>
    <p:extLst>
      <p:ext uri="{BB962C8B-B14F-4D97-AF65-F5344CB8AC3E}">
        <p14:creationId xmlns:p14="http://schemas.microsoft.com/office/powerpoint/2010/main" val="1566632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4775200"/>
          </a:xfrm>
          <a:prstGeom prst="rect">
            <a:avLst/>
          </a:prstGeom>
        </p:spPr>
      </p:pic>
      <p:sp>
        <p:nvSpPr>
          <p:cNvPr id="2" name="Title 1"/>
          <p:cNvSpPr>
            <a:spLocks noGrp="1"/>
          </p:cNvSpPr>
          <p:nvPr>
            <p:ph type="title"/>
          </p:nvPr>
        </p:nvSpPr>
        <p:spPr>
          <a:xfrm>
            <a:off x="831850" y="2971610"/>
            <a:ext cx="10515600" cy="2852737"/>
          </a:xfrm>
        </p:spPr>
        <p:txBody>
          <a:bodyPr/>
          <a:lstStyle/>
          <a:p>
            <a:r>
              <a:rPr lang="en-US" dirty="0" smtClean="0"/>
              <a:t>Tools Used</a:t>
            </a:r>
            <a:endParaRPr lang="en-US" dirty="0"/>
          </a:p>
        </p:txBody>
      </p:sp>
    </p:spTree>
    <p:extLst>
      <p:ext uri="{BB962C8B-B14F-4D97-AF65-F5344CB8AC3E}">
        <p14:creationId xmlns:p14="http://schemas.microsoft.com/office/powerpoint/2010/main" val="17646615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Software</a:t>
            </a:r>
            <a:endParaRPr lang="en-US" dirty="0"/>
          </a:p>
        </p:txBody>
      </p:sp>
      <p:sp>
        <p:nvSpPr>
          <p:cNvPr id="5" name="Content Placeholder 4"/>
          <p:cNvSpPr>
            <a:spLocks noGrp="1"/>
          </p:cNvSpPr>
          <p:nvPr>
            <p:ph idx="1"/>
          </p:nvPr>
        </p:nvSpPr>
        <p:spPr/>
        <p:txBody>
          <a:bodyPr/>
          <a:lstStyle/>
          <a:p>
            <a:r>
              <a:rPr lang="en-US" dirty="0" smtClean="0"/>
              <a:t>IDE </a:t>
            </a:r>
            <a:r>
              <a:rPr lang="en-US" dirty="0" smtClean="0">
                <a:sym typeface="Wingdings"/>
              </a:rPr>
              <a:t> </a:t>
            </a:r>
            <a:r>
              <a:rPr lang="en-US" dirty="0" err="1" smtClean="0">
                <a:sym typeface="Wingdings"/>
              </a:rPr>
              <a:t>Intellij</a:t>
            </a:r>
            <a:r>
              <a:rPr lang="en-US" dirty="0" smtClean="0">
                <a:sym typeface="Wingdings"/>
              </a:rPr>
              <a:t> IDEA</a:t>
            </a:r>
          </a:p>
          <a:p>
            <a:r>
              <a:rPr lang="en-US" dirty="0" smtClean="0">
                <a:sym typeface="Wingdings"/>
              </a:rPr>
              <a:t>browser  Google Chrome</a:t>
            </a:r>
          </a:p>
          <a:p>
            <a:r>
              <a:rPr lang="en-US" dirty="0" smtClean="0">
                <a:sym typeface="Wingdings"/>
              </a:rPr>
              <a:t>Code versioning  SVN</a:t>
            </a:r>
          </a:p>
          <a:p>
            <a:r>
              <a:rPr lang="en-US" dirty="0" smtClean="0">
                <a:sym typeface="Wingdings"/>
              </a:rPr>
              <a:t>App templating  </a:t>
            </a:r>
            <a:r>
              <a:rPr lang="en-US" dirty="0" err="1" smtClean="0">
                <a:sym typeface="Wingdings"/>
              </a:rPr>
              <a:t>monaca</a:t>
            </a:r>
            <a:endParaRPr lang="en-US" dirty="0" smtClean="0">
              <a:sym typeface="Wingdings"/>
            </a:endParaRPr>
          </a:p>
          <a:p>
            <a:r>
              <a:rPr lang="en-US" dirty="0" smtClean="0">
                <a:sym typeface="Wingdings"/>
              </a:rPr>
              <a:t>Package management  </a:t>
            </a:r>
            <a:r>
              <a:rPr lang="en-US" dirty="0" err="1" smtClean="0">
                <a:sym typeface="Wingdings"/>
              </a:rPr>
              <a:t>npm</a:t>
            </a:r>
            <a:r>
              <a:rPr lang="en-US" dirty="0" smtClean="0">
                <a:sym typeface="Wingdings"/>
              </a:rPr>
              <a:t> (</a:t>
            </a:r>
            <a:r>
              <a:rPr lang="en-US" dirty="0" err="1" smtClean="0">
                <a:sym typeface="Wingdings"/>
              </a:rPr>
              <a:t>node.js</a:t>
            </a:r>
            <a:r>
              <a:rPr lang="en-US" dirty="0" smtClean="0">
                <a:sym typeface="Wingdings"/>
              </a:rPr>
              <a:t>)</a:t>
            </a:r>
          </a:p>
          <a:p>
            <a:endParaRPr lang="en-US" dirty="0" smtClean="0">
              <a:sym typeface="Wingdings"/>
            </a:endParaRPr>
          </a:p>
          <a:p>
            <a:endParaRPr lang="en-US" dirty="0"/>
          </a:p>
        </p:txBody>
      </p:sp>
      <p:pic>
        <p:nvPicPr>
          <p:cNvPr id="2" name="Picture 1"/>
          <p:cNvPicPr>
            <a:picLocks noChangeAspect="1"/>
          </p:cNvPicPr>
          <p:nvPr/>
        </p:nvPicPr>
        <p:blipFill>
          <a:blip r:embed="rId2"/>
          <a:stretch>
            <a:fillRect/>
          </a:stretch>
        </p:blipFill>
        <p:spPr>
          <a:xfrm>
            <a:off x="5593080" y="365125"/>
            <a:ext cx="3408680" cy="3408680"/>
          </a:xfrm>
          <a:prstGeom prst="rect">
            <a:avLst/>
          </a:prstGeom>
        </p:spPr>
      </p:pic>
      <p:pic>
        <p:nvPicPr>
          <p:cNvPr id="3" name="Picture 2"/>
          <p:cNvPicPr>
            <a:picLocks noChangeAspect="1"/>
          </p:cNvPicPr>
          <p:nvPr/>
        </p:nvPicPr>
        <p:blipFill rotWithShape="1">
          <a:blip r:embed="rId3">
            <a:alphaModFix/>
          </a:blip>
          <a:srcRect/>
          <a:stretch/>
        </p:blipFill>
        <p:spPr>
          <a:xfrm>
            <a:off x="9022443" y="2440305"/>
            <a:ext cx="3136900" cy="1333500"/>
          </a:xfrm>
          <a:prstGeom prst="rect">
            <a:avLst/>
          </a:prstGeom>
          <a:solidFill>
            <a:schemeClr val="tx1"/>
          </a:solidFill>
        </p:spPr>
      </p:pic>
      <p:pic>
        <p:nvPicPr>
          <p:cNvPr id="10" name="Picture 9"/>
          <p:cNvPicPr>
            <a:picLocks noChangeAspect="1"/>
          </p:cNvPicPr>
          <p:nvPr/>
        </p:nvPicPr>
        <p:blipFill>
          <a:blip r:embed="rId4"/>
          <a:stretch>
            <a:fillRect/>
          </a:stretch>
        </p:blipFill>
        <p:spPr>
          <a:xfrm>
            <a:off x="7587343" y="3908742"/>
            <a:ext cx="4572000" cy="1778000"/>
          </a:xfrm>
          <a:prstGeom prst="rect">
            <a:avLst/>
          </a:prstGeom>
        </p:spPr>
      </p:pic>
    </p:spTree>
    <p:extLst>
      <p:ext uri="{BB962C8B-B14F-4D97-AF65-F5344CB8AC3E}">
        <p14:creationId xmlns:p14="http://schemas.microsoft.com/office/powerpoint/2010/main" val="17675188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Command Line</a:t>
            </a:r>
            <a:endParaRPr lang="en-US" dirty="0"/>
          </a:p>
        </p:txBody>
      </p:sp>
      <p:sp>
        <p:nvSpPr>
          <p:cNvPr id="3" name="Content Placeholder 2"/>
          <p:cNvSpPr>
            <a:spLocks noGrp="1"/>
          </p:cNvSpPr>
          <p:nvPr>
            <p:ph idx="1"/>
          </p:nvPr>
        </p:nvSpPr>
        <p:spPr/>
        <p:txBody>
          <a:bodyPr/>
          <a:lstStyle/>
          <a:p>
            <a:r>
              <a:rPr lang="en-US" dirty="0" err="1" smtClean="0"/>
              <a:t>npm</a:t>
            </a:r>
            <a:endParaRPr lang="en-US" dirty="0" smtClean="0"/>
          </a:p>
          <a:p>
            <a:r>
              <a:rPr lang="en-US" dirty="0" smtClean="0"/>
              <a:t>bower</a:t>
            </a:r>
          </a:p>
          <a:p>
            <a:r>
              <a:rPr lang="en-US" dirty="0" err="1" smtClean="0"/>
              <a:t>cordova</a:t>
            </a:r>
            <a:endParaRPr lang="en-US" dirty="0" smtClean="0"/>
          </a:p>
          <a:p>
            <a:r>
              <a:rPr lang="en-US" dirty="0" err="1" smtClean="0"/>
              <a:t>monaca</a:t>
            </a:r>
            <a:endParaRPr lang="en-US" dirty="0" smtClean="0"/>
          </a:p>
          <a:p>
            <a:r>
              <a:rPr lang="en-US" dirty="0" err="1" smtClean="0"/>
              <a:t>plugman</a:t>
            </a:r>
            <a:endParaRPr lang="en-US" dirty="0" smtClean="0"/>
          </a:p>
          <a:p>
            <a:r>
              <a:rPr lang="en-US" dirty="0" err="1" smtClean="0"/>
              <a:t>browserify</a:t>
            </a:r>
            <a:r>
              <a:rPr lang="en-US" dirty="0" smtClean="0"/>
              <a:t> (</a:t>
            </a:r>
            <a:r>
              <a:rPr lang="en-US" dirty="0" err="1" smtClean="0"/>
              <a:t>requirejs</a:t>
            </a:r>
            <a:r>
              <a:rPr lang="en-US" dirty="0" smtClean="0"/>
              <a:t> modules)</a:t>
            </a:r>
            <a:endParaRPr lang="en-US" dirty="0"/>
          </a:p>
        </p:txBody>
      </p:sp>
    </p:spTree>
    <p:extLst>
      <p:ext uri="{BB962C8B-B14F-4D97-AF65-F5344CB8AC3E}">
        <p14:creationId xmlns:p14="http://schemas.microsoft.com/office/powerpoint/2010/main" val="1577195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Plugins</a:t>
            </a:r>
            <a:endParaRPr lang="en-US" dirty="0"/>
          </a:p>
        </p:txBody>
      </p:sp>
      <p:sp>
        <p:nvSpPr>
          <p:cNvPr id="3" name="Content Placeholder 2"/>
          <p:cNvSpPr>
            <a:spLocks noGrp="1"/>
          </p:cNvSpPr>
          <p:nvPr>
            <p:ph idx="1"/>
          </p:nvPr>
        </p:nvSpPr>
        <p:spPr/>
        <p:txBody>
          <a:bodyPr/>
          <a:lstStyle/>
          <a:p>
            <a:r>
              <a:rPr lang="en-US" dirty="0" err="1" smtClean="0"/>
              <a:t>android_quit</a:t>
            </a:r>
            <a:r>
              <a:rPr lang="en-US" dirty="0" smtClean="0"/>
              <a:t> (custom plugin)</a:t>
            </a:r>
          </a:p>
          <a:p>
            <a:r>
              <a:rPr lang="en-US" dirty="0" err="1" smtClean="0"/>
              <a:t>cordova</a:t>
            </a:r>
            <a:r>
              <a:rPr lang="en-US" dirty="0" smtClean="0"/>
              <a:t>-plugin-camera</a:t>
            </a:r>
          </a:p>
          <a:p>
            <a:r>
              <a:rPr lang="en-US" dirty="0" err="1" smtClean="0"/>
              <a:t>cordova</a:t>
            </a:r>
            <a:r>
              <a:rPr lang="en-US" dirty="0" smtClean="0"/>
              <a:t>-plugin-</a:t>
            </a:r>
            <a:r>
              <a:rPr lang="en-US" dirty="0" err="1" smtClean="0"/>
              <a:t>datepicker</a:t>
            </a:r>
            <a:endParaRPr lang="en-US" dirty="0" smtClean="0"/>
          </a:p>
          <a:p>
            <a:r>
              <a:rPr lang="en-US" dirty="0" err="1" smtClean="0"/>
              <a:t>cordova</a:t>
            </a:r>
            <a:r>
              <a:rPr lang="en-US" dirty="0" smtClean="0"/>
              <a:t>-labs-</a:t>
            </a:r>
            <a:r>
              <a:rPr lang="en-US" dirty="0" err="1" smtClean="0"/>
              <a:t>wkwebview</a:t>
            </a:r>
            <a:r>
              <a:rPr lang="en-US" dirty="0" smtClean="0"/>
              <a:t>-engine-localhost(iOS)</a:t>
            </a:r>
          </a:p>
          <a:p>
            <a:r>
              <a:rPr lang="en-US" dirty="0" err="1" smtClean="0"/>
              <a:t>cordova</a:t>
            </a:r>
            <a:r>
              <a:rPr lang="en-US" dirty="0" smtClean="0"/>
              <a:t>-plugin-crosswalk-</a:t>
            </a:r>
            <a:r>
              <a:rPr lang="en-US" dirty="0" err="1" smtClean="0"/>
              <a:t>webview</a:t>
            </a:r>
            <a:r>
              <a:rPr lang="en-US" dirty="0" smtClean="0"/>
              <a:t>(Android)</a:t>
            </a:r>
          </a:p>
          <a:p>
            <a:endParaRPr lang="en-US" dirty="0"/>
          </a:p>
        </p:txBody>
      </p:sp>
    </p:spTree>
    <p:extLst>
      <p:ext uri="{BB962C8B-B14F-4D97-AF65-F5344CB8AC3E}">
        <p14:creationId xmlns:p14="http://schemas.microsoft.com/office/powerpoint/2010/main" val="16731826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Libraries</a:t>
            </a:r>
            <a:endParaRPr lang="en-US" dirty="0"/>
          </a:p>
        </p:txBody>
      </p:sp>
      <p:sp>
        <p:nvSpPr>
          <p:cNvPr id="3" name="Content Placeholder 2"/>
          <p:cNvSpPr>
            <a:spLocks noGrp="1"/>
          </p:cNvSpPr>
          <p:nvPr>
            <p:ph idx="1"/>
          </p:nvPr>
        </p:nvSpPr>
        <p:spPr/>
        <p:txBody>
          <a:bodyPr/>
          <a:lstStyle/>
          <a:p>
            <a:r>
              <a:rPr lang="en-US" dirty="0" err="1" smtClean="0"/>
              <a:t>LokiJS</a:t>
            </a:r>
            <a:endParaRPr lang="en-US" dirty="0" smtClean="0"/>
          </a:p>
          <a:p>
            <a:pPr lvl="1"/>
            <a:r>
              <a:rPr lang="en-US" dirty="0" smtClean="0"/>
              <a:t>Databases For Persistent DATA</a:t>
            </a:r>
          </a:p>
          <a:p>
            <a:r>
              <a:rPr lang="en-US" dirty="0" err="1" smtClean="0"/>
              <a:t>rateYo</a:t>
            </a:r>
            <a:endParaRPr lang="en-US" dirty="0" smtClean="0"/>
          </a:p>
          <a:p>
            <a:r>
              <a:rPr lang="en-US" dirty="0" err="1" smtClean="0"/>
              <a:t>intl</a:t>
            </a:r>
            <a:r>
              <a:rPr lang="en-US" dirty="0" smtClean="0"/>
              <a:t>-</a:t>
            </a:r>
            <a:r>
              <a:rPr lang="en-US" dirty="0" err="1" smtClean="0"/>
              <a:t>tel</a:t>
            </a:r>
            <a:r>
              <a:rPr lang="en-US" dirty="0" smtClean="0"/>
              <a:t>-input</a:t>
            </a:r>
          </a:p>
          <a:p>
            <a:r>
              <a:rPr lang="en-US" dirty="0" err="1" smtClean="0"/>
              <a:t>countrySelect</a:t>
            </a:r>
            <a:r>
              <a:rPr lang="en-US" dirty="0" smtClean="0"/>
              <a:t>, </a:t>
            </a:r>
            <a:r>
              <a:rPr lang="en-US" dirty="0" err="1"/>
              <a:t>c</a:t>
            </a:r>
            <a:r>
              <a:rPr lang="en-US" dirty="0" err="1" smtClean="0"/>
              <a:t>itySelect</a:t>
            </a:r>
            <a:endParaRPr lang="en-US" dirty="0" smtClean="0"/>
          </a:p>
          <a:p>
            <a:r>
              <a:rPr lang="en-US" dirty="0" err="1" smtClean="0"/>
              <a:t>intl</a:t>
            </a:r>
            <a:endParaRPr lang="en-US" dirty="0" smtClean="0"/>
          </a:p>
          <a:p>
            <a:r>
              <a:rPr lang="en-US" dirty="0" smtClean="0"/>
              <a:t>owl-carousel</a:t>
            </a:r>
          </a:p>
          <a:p>
            <a:endParaRPr lang="en-US" dirty="0"/>
          </a:p>
        </p:txBody>
      </p:sp>
    </p:spTree>
    <p:extLst>
      <p:ext uri="{BB962C8B-B14F-4D97-AF65-F5344CB8AC3E}">
        <p14:creationId xmlns:p14="http://schemas.microsoft.com/office/powerpoint/2010/main" val="5130137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7416800" cy="2852737"/>
          </a:xfrm>
        </p:spPr>
        <p:txBody>
          <a:bodyPr/>
          <a:lstStyle/>
          <a:p>
            <a:r>
              <a:rPr lang="en-US" dirty="0" smtClean="0"/>
              <a:t>Android &amp; iOS Differences</a:t>
            </a:r>
            <a:endParaRPr lang="en-US" dirty="0"/>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315325" y="-33865"/>
            <a:ext cx="3876675" cy="6891866"/>
          </a:xfrm>
          <a:prstGeom prst="rect">
            <a:avLst/>
          </a:prstGeom>
        </p:spPr>
      </p:pic>
    </p:spTree>
    <p:extLst>
      <p:ext uri="{BB962C8B-B14F-4D97-AF65-F5344CB8AC3E}">
        <p14:creationId xmlns:p14="http://schemas.microsoft.com/office/powerpoint/2010/main" val="10859676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Android</a:t>
            </a:r>
            <a:endParaRPr lang="en-US" dirty="0"/>
          </a:p>
        </p:txBody>
      </p:sp>
      <p:sp>
        <p:nvSpPr>
          <p:cNvPr id="7" name="Content Placeholder 6"/>
          <p:cNvSpPr>
            <a:spLocks noGrp="1"/>
          </p:cNvSpPr>
          <p:nvPr>
            <p:ph idx="1"/>
          </p:nvPr>
        </p:nvSpPr>
        <p:spPr/>
        <p:txBody>
          <a:bodyPr/>
          <a:lstStyle/>
          <a:p>
            <a:r>
              <a:rPr lang="en-US" dirty="0" smtClean="0"/>
              <a:t>Freely deploy </a:t>
            </a:r>
            <a:r>
              <a:rPr lang="en-US" dirty="0" err="1" smtClean="0"/>
              <a:t>apks</a:t>
            </a:r>
            <a:endParaRPr lang="en-US" dirty="0" smtClean="0"/>
          </a:p>
          <a:p>
            <a:r>
              <a:rPr lang="en-US" dirty="0" smtClean="0"/>
              <a:t>Code Obfuscation needed</a:t>
            </a:r>
          </a:p>
          <a:p>
            <a:pPr lvl="1"/>
            <a:r>
              <a:rPr lang="en-US" dirty="0" smtClean="0"/>
              <a:t>Security</a:t>
            </a:r>
          </a:p>
          <a:p>
            <a:r>
              <a:rPr lang="en-US" dirty="0" smtClean="0"/>
              <a:t>Easier to edit project </a:t>
            </a:r>
            <a:r>
              <a:rPr lang="en-US" dirty="0" err="1" smtClean="0"/>
              <a:t>configs</a:t>
            </a:r>
            <a:endParaRPr lang="en-US" dirty="0" smtClean="0"/>
          </a:p>
          <a:p>
            <a:r>
              <a:rPr lang="en-US" dirty="0" smtClean="0"/>
              <a:t>Debug: chrome://inspect</a:t>
            </a:r>
            <a:endParaRPr lang="en-US" dirty="0"/>
          </a:p>
        </p:txBody>
      </p:sp>
    </p:spTree>
    <p:extLst>
      <p:ext uri="{BB962C8B-B14F-4D97-AF65-F5344CB8AC3E}">
        <p14:creationId xmlns:p14="http://schemas.microsoft.com/office/powerpoint/2010/main" val="10702464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iOS</a:t>
            </a:r>
            <a:endParaRPr lang="en-US" dirty="0"/>
          </a:p>
        </p:txBody>
      </p:sp>
      <p:sp>
        <p:nvSpPr>
          <p:cNvPr id="3" name="Content Placeholder 2"/>
          <p:cNvSpPr>
            <a:spLocks noGrp="1"/>
          </p:cNvSpPr>
          <p:nvPr>
            <p:ph idx="1"/>
          </p:nvPr>
        </p:nvSpPr>
        <p:spPr/>
        <p:txBody>
          <a:bodyPr/>
          <a:lstStyle/>
          <a:p>
            <a:r>
              <a:rPr lang="en-US" dirty="0" err="1" smtClean="0"/>
              <a:t>Xcode</a:t>
            </a:r>
            <a:endParaRPr lang="en-US" dirty="0" smtClean="0"/>
          </a:p>
          <a:p>
            <a:r>
              <a:rPr lang="en-US" dirty="0" smtClean="0"/>
              <a:t>Deployment of applications</a:t>
            </a:r>
          </a:p>
          <a:p>
            <a:r>
              <a:rPr lang="en-US" dirty="0" smtClean="0"/>
              <a:t>Team provisioning, licensing</a:t>
            </a:r>
          </a:p>
          <a:p>
            <a:r>
              <a:rPr lang="en-US" dirty="0" smtClean="0"/>
              <a:t>Mac Only</a:t>
            </a:r>
          </a:p>
          <a:p>
            <a:r>
              <a:rPr lang="en-US" dirty="0" smtClean="0"/>
              <a:t>Debug: </a:t>
            </a:r>
            <a:r>
              <a:rPr lang="en-US" dirty="0" err="1" smtClean="0"/>
              <a:t>Safari</a:t>
            </a:r>
            <a:r>
              <a:rPr lang="en-US" dirty="0" err="1" smtClean="0">
                <a:sym typeface="Wingdings"/>
              </a:rPr>
              <a:t>DevelopiPhoneindex.html</a:t>
            </a:r>
            <a:endParaRPr lang="en-US" dirty="0" smtClean="0"/>
          </a:p>
          <a:p>
            <a:endParaRPr lang="en-US" dirty="0" smtClean="0"/>
          </a:p>
          <a:p>
            <a:endParaRPr lang="en-US" dirty="0"/>
          </a:p>
        </p:txBody>
      </p:sp>
    </p:spTree>
    <p:extLst>
      <p:ext uri="{BB962C8B-B14F-4D97-AF65-F5344CB8AC3E}">
        <p14:creationId xmlns:p14="http://schemas.microsoft.com/office/powerpoint/2010/main" val="8571081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Status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287569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Task Completion</a:t>
            </a:r>
            <a:endParaRPr lang="en-US" dirty="0"/>
          </a:p>
        </p:txBody>
      </p:sp>
      <p:sp>
        <p:nvSpPr>
          <p:cNvPr id="5" name="Content Placeholder 4"/>
          <p:cNvSpPr>
            <a:spLocks noGrp="1"/>
          </p:cNvSpPr>
          <p:nvPr>
            <p:ph idx="1"/>
          </p:nvPr>
        </p:nvSpPr>
        <p:spPr/>
        <p:txBody>
          <a:bodyPr/>
          <a:lstStyle/>
          <a:p>
            <a:r>
              <a:rPr lang="en-US" dirty="0" smtClean="0"/>
              <a:t>All tasks completed as of these documents:</a:t>
            </a:r>
          </a:p>
          <a:p>
            <a:pPr lvl="1"/>
            <a:r>
              <a:rPr lang="en-US" dirty="0" err="1" smtClean="0"/>
              <a:t>NuMy_DEV_waterfall_Sequence</a:t>
            </a:r>
            <a:r>
              <a:rPr lang="en-US" dirty="0" smtClean="0"/>
              <a:t> Diagram_v1.4_20160711-YC.xlsx</a:t>
            </a:r>
          </a:p>
          <a:p>
            <a:pPr lvl="1"/>
            <a:r>
              <a:rPr lang="en-US" dirty="0" err="1" smtClean="0"/>
              <a:t>NUMy_DEV_Nuwaterfall</a:t>
            </a:r>
            <a:r>
              <a:rPr lang="en-US" dirty="0" smtClean="0"/>
              <a:t> </a:t>
            </a:r>
            <a:r>
              <a:rPr lang="en-US" dirty="0"/>
              <a:t>Features_v1_20160609_YC </a:t>
            </a:r>
            <a:r>
              <a:rPr lang="en-US" dirty="0" smtClean="0"/>
              <a:t>v1.5.xlsx</a:t>
            </a:r>
          </a:p>
          <a:p>
            <a:r>
              <a:rPr lang="en-US" dirty="0" smtClean="0"/>
              <a:t>Outstanding Modules, required for Launch</a:t>
            </a:r>
          </a:p>
          <a:p>
            <a:pPr lvl="1"/>
            <a:r>
              <a:rPr lang="en-US" dirty="0" smtClean="0"/>
              <a:t>Transaction History</a:t>
            </a:r>
          </a:p>
          <a:p>
            <a:pPr lvl="1"/>
            <a:r>
              <a:rPr lang="en-US" dirty="0" smtClean="0"/>
              <a:t>Loan Portfolio</a:t>
            </a:r>
          </a:p>
          <a:p>
            <a:pPr lvl="1"/>
            <a:r>
              <a:rPr lang="en-US" dirty="0" smtClean="0"/>
              <a:t>Payment Gateway</a:t>
            </a:r>
          </a:p>
          <a:p>
            <a:pPr lvl="1"/>
            <a:r>
              <a:rPr lang="en-US" dirty="0" smtClean="0"/>
              <a:t>Code Obfuscation</a:t>
            </a:r>
            <a:endParaRPr lang="en-US" dirty="0"/>
          </a:p>
        </p:txBody>
      </p:sp>
    </p:spTree>
    <p:extLst>
      <p:ext uri="{BB962C8B-B14F-4D97-AF65-F5344CB8AC3E}">
        <p14:creationId xmlns:p14="http://schemas.microsoft.com/office/powerpoint/2010/main" val="7147775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Enhancements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637180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Onsenui</a:t>
            </a:r>
            <a:r>
              <a:rPr lang="en-US" dirty="0" smtClean="0"/>
              <a:t> 2.0</a:t>
            </a:r>
            <a:endParaRPr lang="en-US" dirty="0"/>
          </a:p>
        </p:txBody>
      </p:sp>
      <p:sp>
        <p:nvSpPr>
          <p:cNvPr id="3" name="Content Placeholder 2"/>
          <p:cNvSpPr>
            <a:spLocks noGrp="1"/>
          </p:cNvSpPr>
          <p:nvPr>
            <p:ph idx="1"/>
          </p:nvPr>
        </p:nvSpPr>
        <p:spPr/>
        <p:txBody>
          <a:bodyPr/>
          <a:lstStyle/>
          <a:p>
            <a:r>
              <a:rPr lang="en-US" dirty="0" smtClean="0"/>
              <a:t>Released on 15 September 2016</a:t>
            </a:r>
          </a:p>
          <a:p>
            <a:r>
              <a:rPr lang="en-US" dirty="0" err="1"/>
              <a:t>Onsen</a:t>
            </a:r>
            <a:r>
              <a:rPr lang="en-US" dirty="0"/>
              <a:t> UI 2.0 remains </a:t>
            </a:r>
            <a:r>
              <a:rPr lang="en-US" b="1" dirty="0"/>
              <a:t>framework agnostic in core and bindings</a:t>
            </a:r>
            <a:r>
              <a:rPr lang="en-US" dirty="0"/>
              <a:t>, </a:t>
            </a:r>
            <a:r>
              <a:rPr lang="en-US" dirty="0" smtClean="0"/>
              <a:t>and is </a:t>
            </a:r>
            <a:r>
              <a:rPr lang="en-US" dirty="0"/>
              <a:t>entirely independent of any JavaScript framework trend. </a:t>
            </a:r>
            <a:endParaRPr lang="en-US" dirty="0" smtClean="0"/>
          </a:p>
          <a:p>
            <a:r>
              <a:rPr lang="en-US" dirty="0" smtClean="0"/>
              <a:t>supports </a:t>
            </a:r>
            <a:r>
              <a:rPr lang="en-US" b="1" dirty="0" smtClean="0"/>
              <a:t>Angular </a:t>
            </a:r>
            <a:r>
              <a:rPr lang="en-US" b="1" dirty="0"/>
              <a:t>1 &amp; 2, React, jQuery, Meteor and </a:t>
            </a:r>
            <a:r>
              <a:rPr lang="en-US" b="1" dirty="0" err="1" smtClean="0"/>
              <a:t>Vue.js</a:t>
            </a:r>
            <a:endParaRPr lang="en-US" dirty="0"/>
          </a:p>
          <a:p>
            <a:r>
              <a:rPr lang="en-US" dirty="0" smtClean="0"/>
              <a:t>enables </a:t>
            </a:r>
            <a:r>
              <a:rPr lang="en-US" dirty="0"/>
              <a:t>both </a:t>
            </a:r>
            <a:r>
              <a:rPr lang="en-US" b="1" dirty="0"/>
              <a:t>flat (iOS) and Material Design (Android)</a:t>
            </a:r>
            <a:r>
              <a:rPr lang="en-US" dirty="0"/>
              <a:t> with automatic styling depending on the running </a:t>
            </a:r>
            <a:r>
              <a:rPr lang="en-US" dirty="0" smtClean="0"/>
              <a:t>platform</a:t>
            </a:r>
            <a:endParaRPr lang="en-US" dirty="0"/>
          </a:p>
          <a:p>
            <a:r>
              <a:rPr lang="en-US" b="1" dirty="0"/>
              <a:t>Meet </a:t>
            </a:r>
            <a:r>
              <a:rPr lang="en-US" b="1" dirty="0" err="1"/>
              <a:t>Onsen</a:t>
            </a:r>
            <a:r>
              <a:rPr lang="en-US" b="1" dirty="0"/>
              <a:t> UI Toolkit with Monaca CLI</a:t>
            </a:r>
            <a:r>
              <a:rPr lang="en-US" dirty="0"/>
              <a:t>. Start your apps from prepared templates and debug in </a:t>
            </a:r>
            <a:r>
              <a:rPr lang="en-US" dirty="0" smtClean="0"/>
              <a:t>real devices</a:t>
            </a:r>
            <a:endParaRPr lang="en-US" dirty="0"/>
          </a:p>
        </p:txBody>
      </p:sp>
    </p:spTree>
    <p:extLst>
      <p:ext uri="{BB962C8B-B14F-4D97-AF65-F5344CB8AC3E}">
        <p14:creationId xmlns:p14="http://schemas.microsoft.com/office/powerpoint/2010/main" val="2581554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Links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548895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Framework Comparison</a:t>
            </a:r>
            <a:endParaRPr lang="en-US" dirty="0"/>
          </a:p>
        </p:txBody>
      </p:sp>
      <p:sp>
        <p:nvSpPr>
          <p:cNvPr id="3" name="Content Placeholder 2"/>
          <p:cNvSpPr>
            <a:spLocks noGrp="1"/>
          </p:cNvSpPr>
          <p:nvPr>
            <p:ph idx="1"/>
          </p:nvPr>
        </p:nvSpPr>
        <p:spPr/>
        <p:txBody>
          <a:bodyPr/>
          <a:lstStyle/>
          <a:p>
            <a:r>
              <a:rPr lang="en-US" dirty="0">
                <a:hlinkClick r:id="rId2"/>
              </a:rPr>
              <a:t>http://www.devx.com/wireless/pros-and-cons-of-5-mobile-ui-frameworks.html</a:t>
            </a:r>
            <a:endParaRPr lang="en-US" dirty="0"/>
          </a:p>
          <a:p>
            <a:r>
              <a:rPr lang="en-US" dirty="0">
                <a:hlinkClick r:id="rId3"/>
              </a:rPr>
              <a:t>http://www.letscodejavascript.com/v3/blog/2015/01/angular_review</a:t>
            </a:r>
            <a:endParaRPr lang="en-US" dirty="0"/>
          </a:p>
          <a:p>
            <a:r>
              <a:rPr lang="en-US" dirty="0">
                <a:hlinkClick r:id="rId4"/>
              </a:rPr>
              <a:t>http://stackoverflow.com/questions/21859054/onsenui-vs-ionic-framework</a:t>
            </a:r>
            <a:endParaRPr lang="en-US" dirty="0"/>
          </a:p>
          <a:p>
            <a:r>
              <a:rPr lang="en-US" dirty="0">
                <a:hlinkClick r:id="rId5"/>
              </a:rPr>
              <a:t>https://www.quora.com/Whats-the-best-UI-framework-of-Onsen-UI-or-Ionic</a:t>
            </a:r>
            <a:endParaRPr lang="en-US" dirty="0"/>
          </a:p>
          <a:p>
            <a:r>
              <a:rPr lang="en-US" dirty="0">
                <a:hlinkClick r:id="rId6"/>
              </a:rPr>
              <a:t>http://www.gajotres.net/best-html5-mobile-app-frameworks-onsen-ui/</a:t>
            </a:r>
            <a:endParaRPr lang="en-US" dirty="0"/>
          </a:p>
          <a:p>
            <a:endParaRPr lang="en-US" dirty="0"/>
          </a:p>
        </p:txBody>
      </p:sp>
    </p:spTree>
    <p:extLst>
      <p:ext uri="{BB962C8B-B14F-4D97-AF65-F5344CB8AC3E}">
        <p14:creationId xmlns:p14="http://schemas.microsoft.com/office/powerpoint/2010/main" val="3164352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Solutions to Problems</a:t>
            </a:r>
            <a:endParaRPr lang="en-US" dirty="0"/>
          </a:p>
        </p:txBody>
      </p:sp>
      <p:sp>
        <p:nvSpPr>
          <p:cNvPr id="3" name="Content Placeholder 2"/>
          <p:cNvSpPr>
            <a:spLocks noGrp="1"/>
          </p:cNvSpPr>
          <p:nvPr>
            <p:ph idx="1"/>
          </p:nvPr>
        </p:nvSpPr>
        <p:spPr/>
        <p:txBody>
          <a:bodyPr>
            <a:normAutofit fontScale="92500" lnSpcReduction="20000"/>
          </a:bodyPr>
          <a:lstStyle/>
          <a:p>
            <a:r>
              <a:rPr lang="en-US" dirty="0">
                <a:hlinkClick r:id="rId2"/>
              </a:rPr>
              <a:t>http://stackoverflow.com/questions/9600382/svn-command-to-delete-all-locally-missing-files</a:t>
            </a:r>
            <a:endParaRPr lang="en-US" dirty="0"/>
          </a:p>
          <a:p>
            <a:r>
              <a:rPr lang="en-US" dirty="0">
                <a:hlinkClick r:id="rId3"/>
              </a:rPr>
              <a:t>http://stackoverflow.com/questions/37172346/lokijs-loses-db-and-data-in-collection-when-i-try-to-add-more-data-after-colesin</a:t>
            </a:r>
            <a:endParaRPr lang="en-US" dirty="0"/>
          </a:p>
          <a:p>
            <a:r>
              <a:rPr lang="en-US" dirty="0">
                <a:hlinkClick r:id="rId4"/>
              </a:rPr>
              <a:t>http://stackoverflow.com/questions/28575999/input-field-hidden-when-soft-keyboard-appears-in-phonegap</a:t>
            </a:r>
            <a:endParaRPr lang="en-US" dirty="0"/>
          </a:p>
          <a:p>
            <a:r>
              <a:rPr lang="en-US" dirty="0">
                <a:hlinkClick r:id="rId5"/>
              </a:rPr>
              <a:t>http://</a:t>
            </a:r>
            <a:r>
              <a:rPr lang="en-US" dirty="0" smtClean="0">
                <a:hlinkClick r:id="rId5"/>
              </a:rPr>
              <a:t>stackoverflow.com/questions/13796234/window-scrollto-not-working-in-phonegap-alternative-solution-or-workaround/13808307#13808307</a:t>
            </a:r>
            <a:endParaRPr lang="en-US" dirty="0" smtClean="0"/>
          </a:p>
          <a:p>
            <a:r>
              <a:rPr lang="en-US" dirty="0">
                <a:hlinkClick r:id="rId6"/>
              </a:rPr>
              <a:t>http://</a:t>
            </a:r>
            <a:r>
              <a:rPr lang="en-US" dirty="0" smtClean="0">
                <a:hlinkClick r:id="rId6"/>
              </a:rPr>
              <a:t>stackoverflow.com/questions/469357/html-text-input-allow-only-numeric-input</a:t>
            </a:r>
            <a:endParaRPr lang="en-US" dirty="0" smtClean="0"/>
          </a:p>
          <a:p>
            <a:r>
              <a:rPr lang="en-US" dirty="0">
                <a:hlinkClick r:id="rId7"/>
              </a:rPr>
              <a:t>http://stackoverflow.com/questions/33792527/cordova-crosswalk-ios-still-using-uiwebview</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8909065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Bugs</a:t>
            </a:r>
            <a:endParaRPr lang="en-US" dirty="0"/>
          </a:p>
        </p:txBody>
      </p:sp>
      <p:sp>
        <p:nvSpPr>
          <p:cNvPr id="3" name="Content Placeholder 2"/>
          <p:cNvSpPr>
            <a:spLocks noGrp="1"/>
          </p:cNvSpPr>
          <p:nvPr>
            <p:ph idx="1"/>
          </p:nvPr>
        </p:nvSpPr>
        <p:spPr/>
        <p:txBody>
          <a:bodyPr/>
          <a:lstStyle/>
          <a:p>
            <a:r>
              <a:rPr lang="en-US" dirty="0">
                <a:hlinkClick r:id="rId2"/>
              </a:rPr>
              <a:t>https://github.com/katzer/cordova-plugin-local-notifications/issues/682</a:t>
            </a:r>
            <a:endParaRPr lang="en-US" dirty="0"/>
          </a:p>
          <a:p>
            <a:r>
              <a:rPr lang="en-US" dirty="0">
                <a:hlinkClick r:id="rId3"/>
              </a:rPr>
              <a:t>https://github.com/Telerik-Verified-Plugins/WKWebView/issues/209</a:t>
            </a:r>
            <a:endParaRPr lang="en-US" dirty="0"/>
          </a:p>
          <a:p>
            <a:r>
              <a:rPr lang="en-US" dirty="0">
                <a:hlinkClick r:id="rId4"/>
              </a:rPr>
              <a:t>https://github.com/Telerik-Verified-Plugins/WKWebView/issues/121</a:t>
            </a:r>
            <a:endParaRPr lang="en-US" dirty="0"/>
          </a:p>
          <a:p>
            <a:endParaRPr lang="en-US" dirty="0"/>
          </a:p>
        </p:txBody>
      </p:sp>
    </p:spTree>
    <p:extLst>
      <p:ext uri="{BB962C8B-B14F-4D97-AF65-F5344CB8AC3E}">
        <p14:creationId xmlns:p14="http://schemas.microsoft.com/office/powerpoint/2010/main" val="56441915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Tutorials</a:t>
            </a:r>
            <a:endParaRPr lang="en-US" dirty="0"/>
          </a:p>
        </p:txBody>
      </p:sp>
      <p:sp>
        <p:nvSpPr>
          <p:cNvPr id="3" name="Content Placeholder 2"/>
          <p:cNvSpPr>
            <a:spLocks noGrp="1"/>
          </p:cNvSpPr>
          <p:nvPr>
            <p:ph idx="1"/>
          </p:nvPr>
        </p:nvSpPr>
        <p:spPr/>
        <p:txBody>
          <a:bodyPr/>
          <a:lstStyle/>
          <a:p>
            <a:r>
              <a:rPr lang="en-US" dirty="0">
                <a:hlinkClick r:id="rId2"/>
              </a:rPr>
              <a:t>http://www.mat-d.com/site/tutorial-creating-a-cordova-phonegap-plugin-for-android-app/</a:t>
            </a:r>
            <a:endParaRPr lang="en-US" dirty="0"/>
          </a:p>
          <a:p>
            <a:r>
              <a:rPr lang="en-US" dirty="0">
                <a:hlinkClick r:id="rId3"/>
              </a:rPr>
              <a:t>http://</a:t>
            </a:r>
            <a:r>
              <a:rPr lang="en-US" dirty="0" smtClean="0">
                <a:hlinkClick r:id="rId3"/>
              </a:rPr>
              <a:t>stackoverflow.com/questions/28843883/append-image-file-to-form-data-cordova-angular</a:t>
            </a:r>
            <a:endParaRPr lang="en-US" dirty="0"/>
          </a:p>
          <a:p>
            <a:r>
              <a:rPr lang="en-US" dirty="0">
                <a:hlinkClick r:id="rId4"/>
              </a:rPr>
              <a:t>http://zhangwenli.com/blog/2014/08/25/crosswalk-calling-java-methods-with-javascript/</a:t>
            </a:r>
            <a:endParaRPr lang="en-US" dirty="0"/>
          </a:p>
          <a:p>
            <a:endParaRPr lang="en-US" dirty="0"/>
          </a:p>
        </p:txBody>
      </p:sp>
    </p:spTree>
    <p:extLst>
      <p:ext uri="{BB962C8B-B14F-4D97-AF65-F5344CB8AC3E}">
        <p14:creationId xmlns:p14="http://schemas.microsoft.com/office/powerpoint/2010/main" val="15463637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Libraries/Plugins</a:t>
            </a:r>
            <a:endParaRPr lang="en-US" dirty="0"/>
          </a:p>
        </p:txBody>
      </p:sp>
      <p:sp>
        <p:nvSpPr>
          <p:cNvPr id="3" name="Content Placeholder 2"/>
          <p:cNvSpPr>
            <a:spLocks noGrp="1"/>
          </p:cNvSpPr>
          <p:nvPr>
            <p:ph idx="1"/>
          </p:nvPr>
        </p:nvSpPr>
        <p:spPr/>
        <p:txBody>
          <a:bodyPr>
            <a:normAutofit lnSpcReduction="10000"/>
          </a:bodyPr>
          <a:lstStyle/>
          <a:p>
            <a:r>
              <a:rPr lang="en-US" dirty="0">
                <a:hlinkClick r:id="rId2"/>
              </a:rPr>
              <a:t>https://</a:t>
            </a:r>
            <a:r>
              <a:rPr lang="en-US" dirty="0" smtClean="0">
                <a:hlinkClick r:id="rId2"/>
              </a:rPr>
              <a:t>github.com/sanctus671/cordova-plugin-local-notifications-pgb</a:t>
            </a:r>
            <a:endParaRPr lang="en-US" dirty="0" smtClean="0"/>
          </a:p>
          <a:p>
            <a:r>
              <a:rPr lang="en-US" dirty="0">
                <a:hlinkClick r:id="rId3"/>
              </a:rPr>
              <a:t>http://www.localeplanet.com/api/auto/currencymap.json</a:t>
            </a:r>
            <a:endParaRPr lang="en-US" dirty="0"/>
          </a:p>
          <a:p>
            <a:r>
              <a:rPr lang="en-US" dirty="0">
                <a:hlinkClick r:id="rId4"/>
              </a:rPr>
              <a:t>https://github.com/mrmarkfrench/country-select-js</a:t>
            </a:r>
            <a:endParaRPr lang="en-US" dirty="0"/>
          </a:p>
          <a:p>
            <a:r>
              <a:rPr lang="en-US" dirty="0">
                <a:hlinkClick r:id="rId5"/>
              </a:rPr>
              <a:t>http://rateyo.fundoocode.ninja/</a:t>
            </a:r>
            <a:endParaRPr lang="en-US" dirty="0"/>
          </a:p>
          <a:p>
            <a:r>
              <a:rPr lang="en-US" dirty="0">
                <a:hlinkClick r:id="rId6"/>
              </a:rPr>
              <a:t>https://crosswalk-project.org/documentation/about/faq.html</a:t>
            </a:r>
            <a:endParaRPr lang="en-US" dirty="0"/>
          </a:p>
          <a:p>
            <a:r>
              <a:rPr lang="en-US" dirty="0">
                <a:hlinkClick r:id="rId7"/>
              </a:rPr>
              <a:t>https://github.com/ftlabs/fastclick</a:t>
            </a:r>
            <a:endParaRPr lang="en-US" dirty="0"/>
          </a:p>
          <a:p>
            <a:r>
              <a:rPr lang="en-US" dirty="0">
                <a:hlinkClick r:id="rId8"/>
              </a:rPr>
              <a:t>https://</a:t>
            </a:r>
            <a:r>
              <a:rPr lang="en-US" dirty="0" smtClean="0">
                <a:hlinkClick r:id="rId8"/>
              </a:rPr>
              <a:t>github.com/kerrishotts/cordova-keyboard-example</a:t>
            </a:r>
            <a:endParaRPr lang="en-US" dirty="0" smtClean="0"/>
          </a:p>
          <a:p>
            <a:r>
              <a:rPr lang="en-US" dirty="0">
                <a:hlinkClick r:id="rId9"/>
              </a:rPr>
              <a:t>http://jsbin.com/qakiwebapo/edit?html,css,js,output</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380940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Optimization</a:t>
            </a:r>
            <a:endParaRPr lang="en-US" dirty="0"/>
          </a:p>
        </p:txBody>
      </p:sp>
      <p:sp>
        <p:nvSpPr>
          <p:cNvPr id="3" name="Content Placeholder 2"/>
          <p:cNvSpPr>
            <a:spLocks noGrp="1"/>
          </p:cNvSpPr>
          <p:nvPr>
            <p:ph idx="1"/>
          </p:nvPr>
        </p:nvSpPr>
        <p:spPr/>
        <p:txBody>
          <a:bodyPr/>
          <a:lstStyle/>
          <a:p>
            <a:r>
              <a:rPr lang="en-US" dirty="0">
                <a:hlinkClick r:id="rId2"/>
              </a:rPr>
              <a:t>http://</a:t>
            </a:r>
            <a:r>
              <a:rPr lang="en-US" dirty="0" smtClean="0">
                <a:hlinkClick r:id="rId2"/>
              </a:rPr>
              <a:t>www.learningjquery.com/2010/05/now-you-see-me-showhide-performance</a:t>
            </a:r>
            <a:endParaRPr lang="en-US" dirty="0" smtClean="0"/>
          </a:p>
          <a:p>
            <a:r>
              <a:rPr lang="en-US" dirty="0" smtClean="0">
                <a:hlinkClick r:id="rId3"/>
              </a:rPr>
              <a:t>http://blog.christoffer.me/six-things-i-learnt-about-ios-safaris-rubber-band-scrolling/</a:t>
            </a:r>
            <a:endParaRPr lang="en-US" dirty="0" smtClean="0"/>
          </a:p>
          <a:p>
            <a:endParaRPr lang="en-US" dirty="0"/>
          </a:p>
          <a:p>
            <a:endParaRPr lang="en-US" dirty="0"/>
          </a:p>
        </p:txBody>
      </p:sp>
    </p:spTree>
    <p:extLst>
      <p:ext uri="{BB962C8B-B14F-4D97-AF65-F5344CB8AC3E}">
        <p14:creationId xmlns:p14="http://schemas.microsoft.com/office/powerpoint/2010/main" val="7332965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Reference</a:t>
            </a:r>
            <a:endParaRPr lang="en-US" dirty="0"/>
          </a:p>
        </p:txBody>
      </p:sp>
      <p:sp>
        <p:nvSpPr>
          <p:cNvPr id="3" name="Content Placeholder 2"/>
          <p:cNvSpPr>
            <a:spLocks noGrp="1"/>
          </p:cNvSpPr>
          <p:nvPr>
            <p:ph idx="1"/>
          </p:nvPr>
        </p:nvSpPr>
        <p:spPr/>
        <p:txBody>
          <a:bodyPr/>
          <a:lstStyle/>
          <a:p>
            <a:r>
              <a:rPr lang="en-US" dirty="0" smtClean="0">
                <a:hlinkClick r:id="rId2"/>
              </a:rPr>
              <a:t>https://msdn.microsoft.com/en-us/library/dn324922(v=vs.94).aspx</a:t>
            </a:r>
            <a:endParaRPr lang="en-US" dirty="0" smtClean="0"/>
          </a:p>
          <a:p>
            <a:r>
              <a:rPr lang="en-US" dirty="0">
                <a:hlinkClick r:id="rId3"/>
              </a:rPr>
              <a:t>https://xd.adobe.com/view/20768e1e-9fc7-4c66-6166-a0c07fec5e85/</a:t>
            </a:r>
            <a:endParaRPr lang="en-US" dirty="0"/>
          </a:p>
          <a:p>
            <a:endParaRPr lang="en-US" dirty="0" smtClean="0"/>
          </a:p>
          <a:p>
            <a:endParaRPr lang="en-US" dirty="0"/>
          </a:p>
        </p:txBody>
      </p:sp>
    </p:spTree>
    <p:extLst>
      <p:ext uri="{BB962C8B-B14F-4D97-AF65-F5344CB8AC3E}">
        <p14:creationId xmlns:p14="http://schemas.microsoft.com/office/powerpoint/2010/main" val="19735405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 Introduction</a:t>
            </a:r>
            <a:endParaRPr lang="en-US" dirty="0"/>
          </a:p>
        </p:txBody>
      </p:sp>
      <p:sp>
        <p:nvSpPr>
          <p:cNvPr id="3" name="Content Placeholder 2"/>
          <p:cNvSpPr>
            <a:spLocks noGrp="1"/>
          </p:cNvSpPr>
          <p:nvPr>
            <p:ph idx="1"/>
          </p:nvPr>
        </p:nvSpPr>
        <p:spPr/>
        <p:txBody>
          <a:bodyPr/>
          <a:lstStyle/>
          <a:p>
            <a:r>
              <a:rPr lang="en-US" dirty="0">
                <a:hlinkClick r:id="rId2"/>
              </a:rPr>
              <a:t>https://www.visualstudio.com/en-us/features/mobile-app-development-vs.aspx</a:t>
            </a:r>
            <a:endParaRPr lang="en-US" dirty="0"/>
          </a:p>
          <a:p>
            <a:r>
              <a:rPr lang="en-US" dirty="0">
                <a:hlinkClick r:id="rId3"/>
              </a:rPr>
              <a:t>https://developer.xamarin.com/guides/ios/getting_started/installation/windows/introduction_to_xamarin_ios_for_visual_studio/</a:t>
            </a:r>
            <a:endParaRPr lang="en-US" dirty="0"/>
          </a:p>
          <a:p>
            <a:r>
              <a:rPr lang="en-US" dirty="0">
                <a:hlinkClick r:id="rId4"/>
              </a:rPr>
              <a:t>https://developer.xamarin.com/guides/cross-platform/windows/ios-simulator/</a:t>
            </a:r>
            <a:endParaRPr lang="en-US" dirty="0"/>
          </a:p>
          <a:p>
            <a:endParaRPr lang="en-US" dirty="0"/>
          </a:p>
        </p:txBody>
      </p:sp>
    </p:spTree>
    <p:extLst>
      <p:ext uri="{BB962C8B-B14F-4D97-AF65-F5344CB8AC3E}">
        <p14:creationId xmlns:p14="http://schemas.microsoft.com/office/powerpoint/2010/main" val="1627231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408</TotalTime>
  <Words>582</Words>
  <Application>Microsoft Macintosh PowerPoint</Application>
  <PresentationFormat>Widescreen</PresentationFormat>
  <Paragraphs>219</Paragraphs>
  <Slides>36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Wingdings</vt:lpstr>
      <vt:lpstr>Office Theme</vt:lpstr>
      <vt:lpstr>liveworkstech BRIEFING waterfall – Android &amp; iOS </vt:lpstr>
      <vt:lpstr>Agenda</vt:lpstr>
      <vt:lpstr>Introduction to Cordova</vt:lpstr>
      <vt:lpstr>Introduction</vt:lpstr>
      <vt:lpstr>Folder structure of Cordova Projects</vt:lpstr>
      <vt:lpstr>Initialisation Sequence</vt:lpstr>
      <vt:lpstr>waterfall: Layers of Application</vt:lpstr>
      <vt:lpstr>Frameworks 101</vt:lpstr>
      <vt:lpstr>OnsenUI</vt:lpstr>
      <vt:lpstr>OnsenUI – Key Components Used</vt:lpstr>
      <vt:lpstr>AngularJS</vt:lpstr>
      <vt:lpstr>AngularJS - Controllers</vt:lpstr>
      <vt:lpstr>waterfall Controllers – General Flow</vt:lpstr>
      <vt:lpstr>Services</vt:lpstr>
      <vt:lpstr>Controller &amp; Services Relationship: Example</vt:lpstr>
      <vt:lpstr>Tools Used</vt:lpstr>
      <vt:lpstr>Software</vt:lpstr>
      <vt:lpstr>Command Line</vt:lpstr>
      <vt:lpstr>Plugins</vt:lpstr>
      <vt:lpstr>Libraries</vt:lpstr>
      <vt:lpstr>Android &amp; iOS Differences</vt:lpstr>
      <vt:lpstr>Android</vt:lpstr>
      <vt:lpstr>iOS</vt:lpstr>
      <vt:lpstr>Project Status</vt:lpstr>
      <vt:lpstr>Task Completion</vt:lpstr>
      <vt:lpstr>Future Enhancements</vt:lpstr>
      <vt:lpstr>Onsenui 2.0</vt:lpstr>
      <vt:lpstr>Additional Links</vt:lpstr>
      <vt:lpstr>Mobile Framework Comparison</vt:lpstr>
      <vt:lpstr>Solutions to Problems</vt:lpstr>
      <vt:lpstr>Bugs</vt:lpstr>
      <vt:lpstr>Tutorials</vt:lpstr>
      <vt:lpstr>Libraries/Plugins</vt:lpstr>
      <vt:lpstr>Optimization</vt:lpstr>
      <vt:lpstr>Programming Reference</vt:lpstr>
      <vt:lpstr>Platform Introduction</vt:lpstr>
    </vt:vector>
  </TitlesOfParts>
  <Company/>
  <LinksUpToDate>false</LinksUpToDate>
  <SharedDoc>false</SharedDoc>
  <HyperlinksChanged>false</HyperlinksChanged>
  <AppVersion>15.0038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NUMONI BRIEFING ACACIA – Android &amp; iOS </dc:title>
  <dc:creator>Brian Young</dc:creator>
  <cp:lastModifiedBy>Bobby Nguyen</cp:lastModifiedBy>
  <cp:revision>120</cp:revision>
  <dcterms:created xsi:type="dcterms:W3CDTF">2016-09-18T08:51:51Z</dcterms:created>
  <dcterms:modified xsi:type="dcterms:W3CDTF">2017-11-13T13:16:00Z</dcterms:modified>
</cp:coreProperties>
</file>