
<file path=[Content_Types].xml><?xml version="1.0" encoding="utf-8"?>
<Types xmlns="http://schemas.openxmlformats.org/package/2006/content-types">
  <Default Extension="xml" ContentType="application/xml"/>
  <Default Extension="jpeg" ContentType="image/jpeg"/>
  <Default Extension="vml" ContentType="application/vnd.openxmlformats-officedocument.vmlDrawing"/>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12801600" cy="12599988"/>
  <p:notesSz cx="6858000" cy="9144000"/>
  <p:defaultTextStyle>
    <a:defPPr>
      <a:defRPr lang="en-US"/>
    </a:defPPr>
    <a:lvl1pPr marL="0" algn="l" defTabSz="1075334" rtl="0" eaLnBrk="1" latinLnBrk="0" hangingPunct="1">
      <a:defRPr sz="2117" kern="1200">
        <a:solidFill>
          <a:schemeClr val="tx1"/>
        </a:solidFill>
        <a:latin typeface="+mn-lt"/>
        <a:ea typeface="+mn-ea"/>
        <a:cs typeface="+mn-cs"/>
      </a:defRPr>
    </a:lvl1pPr>
    <a:lvl2pPr marL="537667" algn="l" defTabSz="1075334" rtl="0" eaLnBrk="1" latinLnBrk="0" hangingPunct="1">
      <a:defRPr sz="2117" kern="1200">
        <a:solidFill>
          <a:schemeClr val="tx1"/>
        </a:solidFill>
        <a:latin typeface="+mn-lt"/>
        <a:ea typeface="+mn-ea"/>
        <a:cs typeface="+mn-cs"/>
      </a:defRPr>
    </a:lvl2pPr>
    <a:lvl3pPr marL="1075334" algn="l" defTabSz="1075334" rtl="0" eaLnBrk="1" latinLnBrk="0" hangingPunct="1">
      <a:defRPr sz="2117" kern="1200">
        <a:solidFill>
          <a:schemeClr val="tx1"/>
        </a:solidFill>
        <a:latin typeface="+mn-lt"/>
        <a:ea typeface="+mn-ea"/>
        <a:cs typeface="+mn-cs"/>
      </a:defRPr>
    </a:lvl3pPr>
    <a:lvl4pPr marL="1613002" algn="l" defTabSz="1075334" rtl="0" eaLnBrk="1" latinLnBrk="0" hangingPunct="1">
      <a:defRPr sz="2117" kern="1200">
        <a:solidFill>
          <a:schemeClr val="tx1"/>
        </a:solidFill>
        <a:latin typeface="+mn-lt"/>
        <a:ea typeface="+mn-ea"/>
        <a:cs typeface="+mn-cs"/>
      </a:defRPr>
    </a:lvl4pPr>
    <a:lvl5pPr marL="2150669" algn="l" defTabSz="1075334" rtl="0" eaLnBrk="1" latinLnBrk="0" hangingPunct="1">
      <a:defRPr sz="2117" kern="1200">
        <a:solidFill>
          <a:schemeClr val="tx1"/>
        </a:solidFill>
        <a:latin typeface="+mn-lt"/>
        <a:ea typeface="+mn-ea"/>
        <a:cs typeface="+mn-cs"/>
      </a:defRPr>
    </a:lvl5pPr>
    <a:lvl6pPr marL="2688336" algn="l" defTabSz="1075334" rtl="0" eaLnBrk="1" latinLnBrk="0" hangingPunct="1">
      <a:defRPr sz="2117" kern="1200">
        <a:solidFill>
          <a:schemeClr val="tx1"/>
        </a:solidFill>
        <a:latin typeface="+mn-lt"/>
        <a:ea typeface="+mn-ea"/>
        <a:cs typeface="+mn-cs"/>
      </a:defRPr>
    </a:lvl6pPr>
    <a:lvl7pPr marL="3226003" algn="l" defTabSz="1075334" rtl="0" eaLnBrk="1" latinLnBrk="0" hangingPunct="1">
      <a:defRPr sz="2117" kern="1200">
        <a:solidFill>
          <a:schemeClr val="tx1"/>
        </a:solidFill>
        <a:latin typeface="+mn-lt"/>
        <a:ea typeface="+mn-ea"/>
        <a:cs typeface="+mn-cs"/>
      </a:defRPr>
    </a:lvl7pPr>
    <a:lvl8pPr marL="3763670" algn="l" defTabSz="1075334" rtl="0" eaLnBrk="1" latinLnBrk="0" hangingPunct="1">
      <a:defRPr sz="2117" kern="1200">
        <a:solidFill>
          <a:schemeClr val="tx1"/>
        </a:solidFill>
        <a:latin typeface="+mn-lt"/>
        <a:ea typeface="+mn-ea"/>
        <a:cs typeface="+mn-cs"/>
      </a:defRPr>
    </a:lvl8pPr>
    <a:lvl9pPr marL="4301338" algn="l" defTabSz="1075334" rtl="0" eaLnBrk="1" latinLnBrk="0" hangingPunct="1">
      <a:defRPr sz="21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00CC"/>
    <a:srgbClr val="009900"/>
    <a:srgbClr val="00CC66"/>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12" autoAdjust="0"/>
    <p:restoredTop sz="94036" autoAdjust="0"/>
  </p:normalViewPr>
  <p:slideViewPr>
    <p:cSldViewPr snapToGrid="0">
      <p:cViewPr>
        <p:scale>
          <a:sx n="104" d="100"/>
          <a:sy n="104" d="100"/>
        </p:scale>
        <p:origin x="191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062083"/>
            <a:ext cx="10881360" cy="4386662"/>
          </a:xfrm>
        </p:spPr>
        <p:txBody>
          <a:bodyPr anchor="b"/>
          <a:lstStyle>
            <a:lvl1pPr algn="ctr">
              <a:defRPr sz="8400"/>
            </a:lvl1pPr>
          </a:lstStyle>
          <a:p>
            <a:r>
              <a:rPr lang="en-US" smtClean="0"/>
              <a:t>Click to edit Master title style</a:t>
            </a:r>
            <a:endParaRPr lang="en-US" dirty="0"/>
          </a:p>
        </p:txBody>
      </p:sp>
      <p:sp>
        <p:nvSpPr>
          <p:cNvPr id="3" name="Subtitle 2"/>
          <p:cNvSpPr>
            <a:spLocks noGrp="1"/>
          </p:cNvSpPr>
          <p:nvPr>
            <p:ph type="subTitle" idx="1"/>
          </p:nvPr>
        </p:nvSpPr>
        <p:spPr>
          <a:xfrm>
            <a:off x="1600200" y="6617911"/>
            <a:ext cx="9601200" cy="3042080"/>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7758483-F9FD-4793-8D53-189115A0BF38}" type="datetimeFigureOut">
              <a:rPr lang="en-MY" smtClean="0"/>
              <a:t>31/08/2016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1772034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758483-F9FD-4793-8D53-189115A0BF38}" type="datetimeFigureOut">
              <a:rPr lang="en-MY" smtClean="0"/>
              <a:t>31/08/2016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1519021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3141251"/>
            <a:ext cx="11041380" cy="5241244"/>
          </a:xfrm>
        </p:spPr>
        <p:txBody>
          <a:bodyPr anchor="b"/>
          <a:lstStyle>
            <a:lvl1pPr>
              <a:defRPr sz="8400"/>
            </a:lvl1pPr>
          </a:lstStyle>
          <a:p>
            <a:r>
              <a:rPr lang="en-US" smtClean="0"/>
              <a:t>Click to edit Master title style</a:t>
            </a:r>
            <a:endParaRPr lang="en-US" dirty="0"/>
          </a:p>
        </p:txBody>
      </p:sp>
      <p:sp>
        <p:nvSpPr>
          <p:cNvPr id="3" name="Text Placeholder 2"/>
          <p:cNvSpPr>
            <a:spLocks noGrp="1"/>
          </p:cNvSpPr>
          <p:nvPr>
            <p:ph type="body" idx="1"/>
          </p:nvPr>
        </p:nvSpPr>
        <p:spPr>
          <a:xfrm>
            <a:off x="873443" y="8432079"/>
            <a:ext cx="11041380" cy="2756246"/>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758483-F9FD-4793-8D53-189115A0BF38}" type="datetimeFigureOut">
              <a:rPr lang="en-MY" smtClean="0"/>
              <a:t>31/08/2016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4275412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80110" y="3354163"/>
            <a:ext cx="5440680" cy="799457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80810" y="3354163"/>
            <a:ext cx="5440680" cy="799457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7758483-F9FD-4793-8D53-189115A0BF38}" type="datetimeFigureOut">
              <a:rPr lang="en-MY" smtClean="0"/>
              <a:t>31/08/2016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3408092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670836"/>
            <a:ext cx="11041380" cy="243541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1779" y="3088748"/>
            <a:ext cx="5415676" cy="1513748"/>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smtClean="0"/>
              <a:t>Click to edit Master text styles</a:t>
            </a:r>
          </a:p>
        </p:txBody>
      </p:sp>
      <p:sp>
        <p:nvSpPr>
          <p:cNvPr id="4" name="Content Placeholder 3"/>
          <p:cNvSpPr>
            <a:spLocks noGrp="1"/>
          </p:cNvSpPr>
          <p:nvPr>
            <p:ph sz="half" idx="2"/>
          </p:nvPr>
        </p:nvSpPr>
        <p:spPr>
          <a:xfrm>
            <a:off x="881779" y="4602496"/>
            <a:ext cx="5415676" cy="676957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80811" y="3088748"/>
            <a:ext cx="5442347" cy="1513748"/>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en-US" smtClean="0"/>
              <a:t>Click to edit Master text styles</a:t>
            </a:r>
          </a:p>
        </p:txBody>
      </p:sp>
      <p:sp>
        <p:nvSpPr>
          <p:cNvPr id="6" name="Content Placeholder 5"/>
          <p:cNvSpPr>
            <a:spLocks noGrp="1"/>
          </p:cNvSpPr>
          <p:nvPr>
            <p:ph sz="quarter" idx="4"/>
          </p:nvPr>
        </p:nvSpPr>
        <p:spPr>
          <a:xfrm>
            <a:off x="6480811" y="4602496"/>
            <a:ext cx="5442347" cy="676957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7758483-F9FD-4793-8D53-189115A0BF38}" type="datetimeFigureOut">
              <a:rPr lang="en-MY" smtClean="0"/>
              <a:t>31/08/2016</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77918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7758483-F9FD-4793-8D53-189115A0BF38}" type="datetimeFigureOut">
              <a:rPr lang="en-MY" smtClean="0"/>
              <a:t>31/08/2016</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2514906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758483-F9FD-4793-8D53-189115A0BF38}" type="datetimeFigureOut">
              <a:rPr lang="en-MY" smtClean="0"/>
              <a:t>31/08/2016</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2432211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839999"/>
            <a:ext cx="4128849" cy="2939997"/>
          </a:xfrm>
        </p:spPr>
        <p:txBody>
          <a:bodyPr anchor="b"/>
          <a:lstStyle>
            <a:lvl1pPr>
              <a:defRPr sz="4480"/>
            </a:lvl1pPr>
          </a:lstStyle>
          <a:p>
            <a:r>
              <a:rPr lang="en-US" smtClean="0"/>
              <a:t>Click to edit Master title style</a:t>
            </a:r>
            <a:endParaRPr lang="en-US" dirty="0"/>
          </a:p>
        </p:txBody>
      </p:sp>
      <p:sp>
        <p:nvSpPr>
          <p:cNvPr id="3" name="Content Placeholder 2"/>
          <p:cNvSpPr>
            <a:spLocks noGrp="1"/>
          </p:cNvSpPr>
          <p:nvPr>
            <p:ph idx="1"/>
          </p:nvPr>
        </p:nvSpPr>
        <p:spPr>
          <a:xfrm>
            <a:off x="5442347" y="1814168"/>
            <a:ext cx="6480810" cy="8954158"/>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81778" y="3779996"/>
            <a:ext cx="4128849" cy="7002911"/>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758483-F9FD-4793-8D53-189115A0BF38}" type="datetimeFigureOut">
              <a:rPr lang="en-MY" smtClean="0"/>
              <a:t>31/08/2016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3077064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839999"/>
            <a:ext cx="4128849" cy="2939997"/>
          </a:xfrm>
        </p:spPr>
        <p:txBody>
          <a:bodyPr anchor="b"/>
          <a:lstStyle>
            <a:lvl1pPr>
              <a:defRPr sz="448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442347" y="1814168"/>
            <a:ext cx="6480810" cy="8954158"/>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en-US" smtClean="0"/>
              <a:t>Click icon to add picture</a:t>
            </a:r>
            <a:endParaRPr lang="en-US" dirty="0"/>
          </a:p>
        </p:txBody>
      </p:sp>
      <p:sp>
        <p:nvSpPr>
          <p:cNvPr id="4" name="Text Placeholder 3"/>
          <p:cNvSpPr>
            <a:spLocks noGrp="1"/>
          </p:cNvSpPr>
          <p:nvPr>
            <p:ph type="body" sz="half" idx="2"/>
          </p:nvPr>
        </p:nvSpPr>
        <p:spPr>
          <a:xfrm>
            <a:off x="881778" y="3779996"/>
            <a:ext cx="4128849" cy="7002911"/>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758483-F9FD-4793-8D53-189115A0BF38}" type="datetimeFigureOut">
              <a:rPr lang="en-MY" smtClean="0"/>
              <a:t>31/08/2016</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1574042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758483-F9FD-4793-8D53-189115A0BF38}" type="datetimeFigureOut">
              <a:rPr lang="en-MY" smtClean="0"/>
              <a:t>31/08/2016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3598551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670833"/>
            <a:ext cx="2760345" cy="10677907"/>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80111" y="670833"/>
            <a:ext cx="8121015" cy="106779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758483-F9FD-4793-8D53-189115A0BF38}" type="datetimeFigureOut">
              <a:rPr lang="en-MY" smtClean="0"/>
              <a:t>31/08/2016</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13C291AD-E244-4219-9465-A5EDBF3FC095}" type="slidenum">
              <a:rPr lang="en-MY" smtClean="0"/>
              <a:t>‹#›</a:t>
            </a:fld>
            <a:endParaRPr lang="en-MY"/>
          </a:p>
        </p:txBody>
      </p:sp>
    </p:spTree>
    <p:extLst>
      <p:ext uri="{BB962C8B-B14F-4D97-AF65-F5344CB8AC3E}">
        <p14:creationId xmlns:p14="http://schemas.microsoft.com/office/powerpoint/2010/main" val="342839968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670836"/>
            <a:ext cx="11041380" cy="2435415"/>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80110" y="3354163"/>
            <a:ext cx="11041380" cy="79945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80110" y="11678325"/>
            <a:ext cx="2880360" cy="670833"/>
          </a:xfrm>
          <a:prstGeom prst="rect">
            <a:avLst/>
          </a:prstGeom>
        </p:spPr>
        <p:txBody>
          <a:bodyPr vert="horz" lIns="91440" tIns="45720" rIns="91440" bIns="45720" rtlCol="0" anchor="ctr"/>
          <a:lstStyle>
            <a:lvl1pPr algn="l">
              <a:defRPr sz="1680">
                <a:solidFill>
                  <a:schemeClr val="tx1">
                    <a:tint val="75000"/>
                  </a:schemeClr>
                </a:solidFill>
              </a:defRPr>
            </a:lvl1pPr>
          </a:lstStyle>
          <a:p>
            <a:fld id="{77758483-F9FD-4793-8D53-189115A0BF38}" type="datetimeFigureOut">
              <a:rPr lang="en-MY" smtClean="0"/>
              <a:t>31/08/2016</a:t>
            </a:fld>
            <a:endParaRPr lang="en-MY"/>
          </a:p>
        </p:txBody>
      </p:sp>
      <p:sp>
        <p:nvSpPr>
          <p:cNvPr id="5" name="Footer Placeholder 4"/>
          <p:cNvSpPr>
            <a:spLocks noGrp="1"/>
          </p:cNvSpPr>
          <p:nvPr>
            <p:ph type="ftr" sz="quarter" idx="3"/>
          </p:nvPr>
        </p:nvSpPr>
        <p:spPr>
          <a:xfrm>
            <a:off x="4240530" y="11678325"/>
            <a:ext cx="4320540" cy="670833"/>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lang="en-MY"/>
          </a:p>
        </p:txBody>
      </p:sp>
      <p:sp>
        <p:nvSpPr>
          <p:cNvPr id="6" name="Slide Number Placeholder 5"/>
          <p:cNvSpPr>
            <a:spLocks noGrp="1"/>
          </p:cNvSpPr>
          <p:nvPr>
            <p:ph type="sldNum" sz="quarter" idx="4"/>
          </p:nvPr>
        </p:nvSpPr>
        <p:spPr>
          <a:xfrm>
            <a:off x="9041130" y="11678325"/>
            <a:ext cx="2880360" cy="670833"/>
          </a:xfrm>
          <a:prstGeom prst="rect">
            <a:avLst/>
          </a:prstGeom>
        </p:spPr>
        <p:txBody>
          <a:bodyPr vert="horz" lIns="91440" tIns="45720" rIns="91440" bIns="45720" rtlCol="0" anchor="ctr"/>
          <a:lstStyle>
            <a:lvl1pPr algn="r">
              <a:defRPr sz="1680">
                <a:solidFill>
                  <a:schemeClr val="tx1">
                    <a:tint val="75000"/>
                  </a:schemeClr>
                </a:solidFill>
              </a:defRPr>
            </a:lvl1pPr>
          </a:lstStyle>
          <a:p>
            <a:fld id="{13C291AD-E244-4219-9465-A5EDBF3FC095}" type="slidenum">
              <a:rPr lang="en-MY" smtClean="0"/>
              <a:t>‹#›</a:t>
            </a:fld>
            <a:endParaRPr lang="en-MY"/>
          </a:p>
        </p:txBody>
      </p:sp>
    </p:spTree>
    <p:extLst>
      <p:ext uri="{BB962C8B-B14F-4D97-AF65-F5344CB8AC3E}">
        <p14:creationId xmlns:p14="http://schemas.microsoft.com/office/powerpoint/2010/main" val="40679425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 Type="http://schemas.openxmlformats.org/officeDocument/2006/relationships/vmlDrawing" Target="../drawings/vmlDrawing1.vml"/><Relationship Id="rId2" Type="http://schemas.openxmlformats.org/officeDocument/2006/relationships/slideLayout" Target="../slideLayouts/slideLayout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3504776" y="571500"/>
            <a:ext cx="2533650" cy="9791700"/>
          </a:xfrm>
          <a:prstGeom prst="rect">
            <a:avLst/>
          </a:prstGeom>
        </p:spPr>
      </p:pic>
      <p:pic>
        <p:nvPicPr>
          <p:cNvPr id="7" name="Picture 6"/>
          <p:cNvPicPr>
            <a:picLocks noChangeAspect="1"/>
          </p:cNvPicPr>
          <p:nvPr/>
        </p:nvPicPr>
        <p:blipFill>
          <a:blip r:embed="rId4"/>
          <a:stretch>
            <a:fillRect/>
          </a:stretch>
        </p:blipFill>
        <p:spPr>
          <a:xfrm>
            <a:off x="639432" y="571500"/>
            <a:ext cx="2500441" cy="4447451"/>
          </a:xfrm>
          <a:prstGeom prst="rect">
            <a:avLst/>
          </a:prstGeom>
        </p:spPr>
      </p:pic>
      <p:sp>
        <p:nvSpPr>
          <p:cNvPr id="9" name="TextBox 8"/>
          <p:cNvSpPr txBox="1"/>
          <p:nvPr/>
        </p:nvSpPr>
        <p:spPr>
          <a:xfrm>
            <a:off x="1020497" y="728832"/>
            <a:ext cx="2119376" cy="253916"/>
          </a:xfrm>
          <a:prstGeom prst="rect">
            <a:avLst/>
          </a:prstGeom>
          <a:noFill/>
        </p:spPr>
        <p:txBody>
          <a:bodyPr wrap="square" rtlCol="0">
            <a:spAutoFit/>
          </a:bodyPr>
          <a:lstStyle/>
          <a:p>
            <a:r>
              <a:rPr lang="en-US" sz="1050" dirty="0">
                <a:solidFill>
                  <a:schemeClr val="bg1"/>
                </a:solidFill>
                <a:latin typeface="Open Sans" panose="020B0606030504020204" pitchFamily="34" charset="0"/>
                <a:ea typeface="Open Sans" panose="020B0606030504020204" pitchFamily="34" charset="0"/>
                <a:cs typeface="Open Sans" panose="020B0606030504020204" pitchFamily="34" charset="0"/>
              </a:rPr>
              <a:t>Add Credit Summary</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4" name="Picture 13"/>
          <p:cNvPicPr/>
          <p:nvPr/>
        </p:nvPicPr>
        <p:blipFill>
          <a:blip r:embed="rId5">
            <a:extLst>
              <a:ext uri="{28A0092B-C50C-407E-A947-70E740481C1C}">
                <a14:useLocalDpi xmlns:a14="http://schemas.microsoft.com/office/drawing/2010/main" val="0"/>
              </a:ext>
            </a:extLst>
          </a:blip>
          <a:srcRect/>
          <a:stretch>
            <a:fillRect/>
          </a:stretch>
        </p:blipFill>
        <p:spPr bwMode="auto">
          <a:xfrm>
            <a:off x="1583071" y="1851693"/>
            <a:ext cx="181430" cy="181430"/>
          </a:xfrm>
          <a:prstGeom prst="rect">
            <a:avLst/>
          </a:prstGeom>
          <a:noFill/>
          <a:ln>
            <a:noFill/>
          </a:ln>
        </p:spPr>
      </p:pic>
      <p:sp>
        <p:nvSpPr>
          <p:cNvPr id="29" name="TextBox 28"/>
          <p:cNvSpPr txBox="1"/>
          <p:nvPr/>
        </p:nvSpPr>
        <p:spPr>
          <a:xfrm>
            <a:off x="635429" y="2556820"/>
            <a:ext cx="2504442" cy="383182"/>
          </a:xfrm>
          <a:prstGeom prst="rect">
            <a:avLst/>
          </a:prstGeom>
          <a:noFill/>
        </p:spPr>
        <p:txBody>
          <a:bodyPr wrap="square" rtlCol="0">
            <a:spAutoFit/>
          </a:bodyPr>
          <a:lstStyle/>
          <a:p>
            <a:pPr defTabSz="302400"/>
            <a:r>
              <a:rPr lang="en-US" sz="945" dirty="0">
                <a:latin typeface="Open Sans" panose="020B0606030504020204" pitchFamily="34" charset="0"/>
                <a:ea typeface="Open Sans" panose="020B0606030504020204" pitchFamily="34" charset="0"/>
                <a:cs typeface="Open Sans" panose="020B0606030504020204" pitchFamily="34" charset="0"/>
              </a:rPr>
              <a:t>	Please confirm that you understand</a:t>
            </a:r>
          </a:p>
          <a:p>
            <a:pPr defTabSz="302400"/>
            <a:r>
              <a:rPr lang="en-US" sz="945" dirty="0">
                <a:latin typeface="Open Sans" panose="020B0606030504020204" pitchFamily="34" charset="0"/>
                <a:ea typeface="Open Sans" panose="020B0606030504020204" pitchFamily="34" charset="0"/>
                <a:cs typeface="Open Sans" panose="020B0606030504020204" pitchFamily="34" charset="0"/>
              </a:rPr>
              <a:t>	and accept our </a:t>
            </a:r>
            <a:r>
              <a:rPr lang="en-US" sz="945" dirty="0">
                <a:solidFill>
                  <a:srgbClr val="0000CC"/>
                </a:solidFill>
                <a:latin typeface="Open Sans" panose="020B0606030504020204" pitchFamily="34" charset="0"/>
                <a:ea typeface="Open Sans" panose="020B0606030504020204" pitchFamily="34" charset="0"/>
                <a:cs typeface="Open Sans" panose="020B0606030504020204" pitchFamily="34" charset="0"/>
              </a:rPr>
              <a:t>Terms &amp; Conditions</a:t>
            </a:r>
            <a:r>
              <a:rPr lang="en-US" sz="945" dirty="0">
                <a:latin typeface="Open Sans" panose="020B0606030504020204" pitchFamily="34" charset="0"/>
                <a:ea typeface="Open Sans" panose="020B0606030504020204" pitchFamily="34" charset="0"/>
                <a:cs typeface="Open Sans" panose="020B0606030504020204" pitchFamily="34" charset="0"/>
              </a:rPr>
              <a:t>.</a:t>
            </a:r>
          </a:p>
        </p:txBody>
      </p:sp>
      <p:sp>
        <p:nvSpPr>
          <p:cNvPr id="31" name="Rectangle 30"/>
          <p:cNvSpPr/>
          <p:nvPr/>
        </p:nvSpPr>
        <p:spPr>
          <a:xfrm>
            <a:off x="635428" y="3117092"/>
            <a:ext cx="2504442" cy="332403"/>
          </a:xfrm>
          <a:prstGeom prst="rec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945" dirty="0">
                <a:latin typeface="Open Sans" panose="020B0606030504020204" pitchFamily="34" charset="0"/>
                <a:ea typeface="Open Sans" panose="020B0606030504020204" pitchFamily="34" charset="0"/>
                <a:cs typeface="Open Sans" panose="020B0606030504020204" pitchFamily="34" charset="0"/>
              </a:rPr>
              <a:t>PAY</a:t>
            </a:r>
            <a:endParaRPr lang="en-MY" sz="945" dirty="0">
              <a:latin typeface="Open Sans" panose="020B0606030504020204" pitchFamily="34" charset="0"/>
              <a:ea typeface="Open Sans" panose="020B0606030504020204" pitchFamily="34" charset="0"/>
              <a:cs typeface="Open Sans" panose="020B0606030504020204" pitchFamily="34" charset="0"/>
            </a:endParaRPr>
          </a:p>
        </p:txBody>
      </p:sp>
      <p:sp>
        <p:nvSpPr>
          <p:cNvPr id="32" name="Rectangle 31"/>
          <p:cNvSpPr/>
          <p:nvPr/>
        </p:nvSpPr>
        <p:spPr>
          <a:xfrm>
            <a:off x="635429" y="1100023"/>
            <a:ext cx="2504442" cy="33240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945" dirty="0">
                <a:solidFill>
                  <a:schemeClr val="bg1"/>
                </a:solidFill>
                <a:latin typeface="Open Sans" panose="020B0606030504020204" pitchFamily="34" charset="0"/>
                <a:ea typeface="Open Sans" panose="020B0606030504020204" pitchFamily="34" charset="0"/>
                <a:cs typeface="Open Sans" panose="020B0606030504020204" pitchFamily="34" charset="0"/>
              </a:rPr>
              <a:t>Payment Amount               IDR 10.000.000</a:t>
            </a:r>
          </a:p>
        </p:txBody>
      </p:sp>
      <p:sp>
        <p:nvSpPr>
          <p:cNvPr id="33" name="Rectangle 32"/>
          <p:cNvSpPr/>
          <p:nvPr/>
        </p:nvSpPr>
        <p:spPr>
          <a:xfrm>
            <a:off x="635431" y="1437692"/>
            <a:ext cx="1221629" cy="3324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945" dirty="0">
                <a:solidFill>
                  <a:schemeClr val="tx1"/>
                </a:solidFill>
                <a:latin typeface="Open Sans" panose="020B0606030504020204" pitchFamily="34" charset="0"/>
                <a:ea typeface="Open Sans" panose="020B0606030504020204" pitchFamily="34" charset="0"/>
                <a:cs typeface="Open Sans" panose="020B0606030504020204" pitchFamily="34" charset="0"/>
              </a:rPr>
              <a:t>Payment Method</a:t>
            </a:r>
          </a:p>
        </p:txBody>
      </p:sp>
      <p:sp>
        <p:nvSpPr>
          <p:cNvPr id="34" name="Rectangle 33"/>
          <p:cNvSpPr/>
          <p:nvPr/>
        </p:nvSpPr>
        <p:spPr>
          <a:xfrm>
            <a:off x="635429" y="1776208"/>
            <a:ext cx="2504442" cy="3324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945" dirty="0">
                <a:solidFill>
                  <a:schemeClr val="tx1"/>
                </a:solidFill>
                <a:latin typeface="Open Sans" panose="020B0606030504020204" pitchFamily="34" charset="0"/>
                <a:ea typeface="Open Sans" panose="020B0606030504020204" pitchFamily="34" charset="0"/>
                <a:cs typeface="Open Sans" panose="020B0606030504020204" pitchFamily="34" charset="0"/>
              </a:rPr>
              <a:t>Processing Fee                         IDR 300.000</a:t>
            </a:r>
          </a:p>
        </p:txBody>
      </p:sp>
      <p:sp>
        <p:nvSpPr>
          <p:cNvPr id="35" name="Rectangle 34"/>
          <p:cNvSpPr/>
          <p:nvPr/>
        </p:nvSpPr>
        <p:spPr>
          <a:xfrm>
            <a:off x="635429" y="2117499"/>
            <a:ext cx="2504442" cy="33240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945" dirty="0">
                <a:solidFill>
                  <a:schemeClr val="bg1"/>
                </a:solidFill>
                <a:latin typeface="Open Sans" panose="020B0606030504020204" pitchFamily="34" charset="0"/>
                <a:ea typeface="Open Sans" panose="020B0606030504020204" pitchFamily="34" charset="0"/>
                <a:cs typeface="Open Sans" panose="020B0606030504020204" pitchFamily="34" charset="0"/>
              </a:rPr>
              <a:t>Total Payment Amount      IDR 10.300.000</a:t>
            </a:r>
          </a:p>
        </p:txBody>
      </p:sp>
      <p:sp>
        <p:nvSpPr>
          <p:cNvPr id="37" name="TextBox 36"/>
          <p:cNvSpPr txBox="1"/>
          <p:nvPr/>
        </p:nvSpPr>
        <p:spPr>
          <a:xfrm>
            <a:off x="3898774" y="717852"/>
            <a:ext cx="2119376" cy="253916"/>
          </a:xfrm>
          <a:prstGeom prst="rect">
            <a:avLst/>
          </a:prstGeom>
          <a:noFill/>
        </p:spPr>
        <p:txBody>
          <a:bodyPr wrap="square" rtlCol="0">
            <a:spAutoFit/>
          </a:bodyPr>
          <a:lstStyle/>
          <a:p>
            <a:r>
              <a:rPr lang="en-US"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Payment</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0" name="Rectangle 49"/>
          <p:cNvSpPr/>
          <p:nvPr/>
        </p:nvSpPr>
        <p:spPr>
          <a:xfrm>
            <a:off x="1764500" y="1448482"/>
            <a:ext cx="1314366" cy="310632"/>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945" dirty="0">
                <a:solidFill>
                  <a:schemeClr val="tx1"/>
                </a:solidFill>
                <a:latin typeface="Open Sans" panose="020B0606030504020204" pitchFamily="34" charset="0"/>
                <a:ea typeface="Open Sans" panose="020B0606030504020204" pitchFamily="34" charset="0"/>
                <a:cs typeface="Open Sans" panose="020B0606030504020204" pitchFamily="34" charset="0"/>
              </a:rPr>
              <a:t>Credit Card</a:t>
            </a:r>
          </a:p>
        </p:txBody>
      </p:sp>
      <p:pic>
        <p:nvPicPr>
          <p:cNvPr id="51" name="Picture 50"/>
          <p:cNvPicPr>
            <a:picLocks noChangeAspect="1"/>
          </p:cNvPicPr>
          <p:nvPr/>
        </p:nvPicPr>
        <p:blipFill>
          <a:blip r:embed="rId6"/>
          <a:stretch>
            <a:fillRect/>
          </a:stretch>
        </p:blipFill>
        <p:spPr>
          <a:xfrm>
            <a:off x="2929339" y="1509718"/>
            <a:ext cx="120021" cy="188033"/>
          </a:xfrm>
          <a:prstGeom prst="rect">
            <a:avLst/>
          </a:prstGeom>
        </p:spPr>
      </p:pic>
      <p:sp>
        <p:nvSpPr>
          <p:cNvPr id="24" name="Rounded Rectangular Callout 23"/>
          <p:cNvSpPr/>
          <p:nvPr/>
        </p:nvSpPr>
        <p:spPr>
          <a:xfrm>
            <a:off x="671954" y="3548518"/>
            <a:ext cx="2425798" cy="1371411"/>
          </a:xfrm>
          <a:prstGeom prst="wedgeRoundRectCallout">
            <a:avLst>
              <a:gd name="adj1" fmla="val -9201"/>
              <a:gd name="adj2" fmla="val -167795"/>
              <a:gd name="adj3" fmla="val 16667"/>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1050" dirty="0">
                <a:solidFill>
                  <a:schemeClr val="tx1"/>
                </a:solidFill>
                <a:latin typeface="Open Sans" panose="020B0606030504020204" pitchFamily="34" charset="0"/>
                <a:ea typeface="Open Sans" panose="020B0606030504020204" pitchFamily="34" charset="0"/>
                <a:cs typeface="Open Sans" panose="020B0606030504020204" pitchFamily="34" charset="0"/>
              </a:rPr>
              <a:t>Processing Fees</a:t>
            </a:r>
          </a:p>
          <a:p>
            <a:r>
              <a:rPr lang="en-MY" sz="950" dirty="0">
                <a:solidFill>
                  <a:schemeClr val="tx1"/>
                </a:solidFill>
                <a:latin typeface="Open Sans" panose="020B0606030504020204" pitchFamily="34" charset="0"/>
                <a:ea typeface="Open Sans" panose="020B0606030504020204" pitchFamily="34" charset="0"/>
                <a:cs typeface="Open Sans" panose="020B0606030504020204" pitchFamily="34" charset="0"/>
              </a:rPr>
              <a:t>The processing fee is chargeable per payment transaction when payment is made ONLINE through credit card, debit card or charge card only. This fee covers the cost of processing the payment transaction.</a:t>
            </a:r>
          </a:p>
        </p:txBody>
      </p:sp>
      <p:pic>
        <p:nvPicPr>
          <p:cNvPr id="53" name="Picture 52"/>
          <p:cNvPicPr>
            <a:picLocks noChangeAspect="1"/>
          </p:cNvPicPr>
          <p:nvPr/>
        </p:nvPicPr>
        <p:blipFill>
          <a:blip r:embed="rId7"/>
          <a:stretch>
            <a:fillRect/>
          </a:stretch>
        </p:blipFill>
        <p:spPr>
          <a:xfrm>
            <a:off x="3528381" y="1052898"/>
            <a:ext cx="2482258" cy="290476"/>
          </a:xfrm>
          <a:prstGeom prst="rect">
            <a:avLst/>
          </a:prstGeom>
        </p:spPr>
      </p:pic>
      <p:sp>
        <p:nvSpPr>
          <p:cNvPr id="71" name="TextBox 70"/>
          <p:cNvSpPr txBox="1"/>
          <p:nvPr/>
        </p:nvSpPr>
        <p:spPr>
          <a:xfrm>
            <a:off x="3528383" y="1327131"/>
            <a:ext cx="2489767" cy="1142620"/>
          </a:xfrm>
          <a:prstGeom prst="rect">
            <a:avLst/>
          </a:prstGeom>
          <a:noFill/>
        </p:spPr>
        <p:txBody>
          <a:bodyPr wrap="square" rtlCol="0">
            <a:spAutoFit/>
          </a:bodyPr>
          <a:lstStyle/>
          <a:p>
            <a:pPr defTabSz="302400"/>
            <a:r>
              <a:rPr lang="en-US" sz="840" b="1" dirty="0">
                <a:latin typeface="Open Sans" panose="020B0606030504020204" pitchFamily="34" charset="0"/>
                <a:ea typeface="Open Sans" panose="020B0606030504020204" pitchFamily="34" charset="0"/>
                <a:cs typeface="Open Sans" panose="020B0606030504020204" pitchFamily="34" charset="0"/>
              </a:rPr>
              <a:t>Secure Payment Page</a:t>
            </a:r>
          </a:p>
          <a:p>
            <a:pPr defTabSz="302400"/>
            <a:r>
              <a:rPr lang="en-US" sz="840" dirty="0">
                <a:latin typeface="Open Sans" panose="020B0606030504020204" pitchFamily="34" charset="0"/>
                <a:ea typeface="Open Sans" panose="020B0606030504020204" pitchFamily="34" charset="0"/>
                <a:cs typeface="Open Sans" panose="020B0606030504020204" pitchFamily="34" charset="0"/>
              </a:rPr>
              <a:t>To complete your payment, please provide your payment information. Payment information provided will be encrypted before being sent over the internet. This is to keep the information from being stolen or intercepted while it is being transmitted to the bank.</a:t>
            </a:r>
          </a:p>
        </p:txBody>
      </p:sp>
      <p:sp>
        <p:nvSpPr>
          <p:cNvPr id="72" name="Rectangle 71"/>
          <p:cNvSpPr/>
          <p:nvPr/>
        </p:nvSpPr>
        <p:spPr>
          <a:xfrm>
            <a:off x="3517709" y="2474540"/>
            <a:ext cx="2500441" cy="20364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840" dirty="0">
                <a:latin typeface="Open Sans" panose="020B0606030504020204" pitchFamily="34" charset="0"/>
                <a:ea typeface="Open Sans" panose="020B0606030504020204" pitchFamily="34" charset="0"/>
                <a:cs typeface="Open Sans" panose="020B0606030504020204" pitchFamily="34" charset="0"/>
              </a:rPr>
              <a:t>Your Transaction Information:</a:t>
            </a:r>
            <a:endParaRPr lang="en-MY" sz="840" dirty="0">
              <a:latin typeface="Open Sans" panose="020B0606030504020204" pitchFamily="34" charset="0"/>
              <a:ea typeface="Open Sans" panose="020B0606030504020204" pitchFamily="34" charset="0"/>
              <a:cs typeface="Open Sans" panose="020B0606030504020204" pitchFamily="34" charset="0"/>
            </a:endParaRPr>
          </a:p>
        </p:txBody>
      </p:sp>
      <p:sp>
        <p:nvSpPr>
          <p:cNvPr id="73" name="Rectangle 72"/>
          <p:cNvSpPr/>
          <p:nvPr/>
        </p:nvSpPr>
        <p:spPr>
          <a:xfrm>
            <a:off x="3517709" y="2679106"/>
            <a:ext cx="921255" cy="285949"/>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Merchant Name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7" name="Rectangle 76"/>
          <p:cNvSpPr/>
          <p:nvPr/>
        </p:nvSpPr>
        <p:spPr>
          <a:xfrm>
            <a:off x="4438964" y="2680394"/>
            <a:ext cx="1575172" cy="284661"/>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Numoni</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8" name="Rectangle 77"/>
          <p:cNvSpPr/>
          <p:nvPr/>
        </p:nvSpPr>
        <p:spPr>
          <a:xfrm>
            <a:off x="3517707" y="2963989"/>
            <a:ext cx="922325" cy="280527"/>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Merchant Transaction ID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1" name="Rectangle 80"/>
          <p:cNvSpPr/>
          <p:nvPr/>
        </p:nvSpPr>
        <p:spPr>
          <a:xfrm>
            <a:off x="3517209" y="3245154"/>
            <a:ext cx="921755" cy="200570"/>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3" name="Rectangle 82"/>
          <p:cNvSpPr/>
          <p:nvPr/>
        </p:nvSpPr>
        <p:spPr>
          <a:xfrm>
            <a:off x="3516956" y="3448048"/>
            <a:ext cx="2498026" cy="296471"/>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Transaction Description:</a:t>
            </a:r>
          </a:p>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P2P MARKETPLACE ADD CREDIT</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4" name="TextBox 83"/>
          <p:cNvSpPr txBox="1"/>
          <p:nvPr/>
        </p:nvSpPr>
        <p:spPr>
          <a:xfrm>
            <a:off x="3518866" y="3753759"/>
            <a:ext cx="2489767" cy="867930"/>
          </a:xfrm>
          <a:prstGeom prst="rect">
            <a:avLst/>
          </a:prstGeom>
          <a:noFill/>
        </p:spPr>
        <p:txBody>
          <a:bodyPr wrap="square" rtlCol="0">
            <a:spAutoFit/>
          </a:bodyPr>
          <a:lstStyle/>
          <a:p>
            <a:pPr defTabSz="302400"/>
            <a:r>
              <a:rPr lang="en-US" sz="840" dirty="0">
                <a:latin typeface="Open Sans" panose="020B0606030504020204" pitchFamily="34" charset="0"/>
                <a:ea typeface="Open Sans" panose="020B0606030504020204" pitchFamily="34" charset="0"/>
                <a:cs typeface="Open Sans" panose="020B0606030504020204" pitchFamily="34" charset="0"/>
              </a:rPr>
              <a:t>We comply with all applicable privacy laws. All information collection on our web pages will remain private and confidential. Please note that by submitting your personal information to us, you consent to our privacy statement that governs your account.</a:t>
            </a:r>
            <a:endParaRPr lang="en-US" sz="735" dirty="0">
              <a:latin typeface="Open Sans" panose="020B0606030504020204" pitchFamily="34" charset="0"/>
              <a:ea typeface="Open Sans" panose="020B0606030504020204" pitchFamily="34" charset="0"/>
              <a:cs typeface="Open Sans" panose="020B0606030504020204" pitchFamily="34" charset="0"/>
            </a:endParaRPr>
          </a:p>
        </p:txBody>
      </p:sp>
      <p:sp>
        <p:nvSpPr>
          <p:cNvPr id="38" name="Rectangle 37"/>
          <p:cNvSpPr/>
          <p:nvPr/>
        </p:nvSpPr>
        <p:spPr>
          <a:xfrm>
            <a:off x="3516560" y="4610397"/>
            <a:ext cx="2500441" cy="21094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840" b="1" dirty="0">
                <a:solidFill>
                  <a:schemeClr val="tx1"/>
                </a:solidFill>
                <a:latin typeface="Open Sans" panose="020B0606030504020204" pitchFamily="34" charset="0"/>
                <a:ea typeface="Open Sans" panose="020B0606030504020204" pitchFamily="34" charset="0"/>
                <a:cs typeface="Open Sans" panose="020B0606030504020204" pitchFamily="34" charset="0"/>
              </a:rPr>
              <a:t>Enter Your Payment Information:</a:t>
            </a:r>
            <a:endParaRPr lang="en-MY" sz="84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39"/>
          <p:cNvSpPr/>
          <p:nvPr/>
        </p:nvSpPr>
        <p:spPr>
          <a:xfrm>
            <a:off x="3522864" y="4846146"/>
            <a:ext cx="2493224" cy="1562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Name On Card </a:t>
            </a:r>
            <a:r>
              <a:rPr lang="en-US" sz="840"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Rectangle 40"/>
          <p:cNvSpPr/>
          <p:nvPr/>
        </p:nvSpPr>
        <p:spPr>
          <a:xfrm>
            <a:off x="3584051" y="5000287"/>
            <a:ext cx="2339009" cy="20717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p:cNvSpPr/>
          <p:nvPr/>
        </p:nvSpPr>
        <p:spPr>
          <a:xfrm>
            <a:off x="3523776" y="5210086"/>
            <a:ext cx="2493224" cy="29201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Please enter name as stated on credit/debit card</a:t>
            </a:r>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p:cNvSpPr/>
          <p:nvPr/>
        </p:nvSpPr>
        <p:spPr>
          <a:xfrm>
            <a:off x="3521758" y="5515098"/>
            <a:ext cx="2486874" cy="1562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Credit/Debit Card Number </a:t>
            </a:r>
            <a:r>
              <a:rPr lang="en-US" sz="840"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Rectangle 46"/>
          <p:cNvSpPr/>
          <p:nvPr/>
        </p:nvSpPr>
        <p:spPr>
          <a:xfrm>
            <a:off x="3590400" y="5672482"/>
            <a:ext cx="2339009" cy="20717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Rectangle 47"/>
          <p:cNvSpPr/>
          <p:nvPr/>
        </p:nvSpPr>
        <p:spPr>
          <a:xfrm>
            <a:off x="3515409" y="5879769"/>
            <a:ext cx="2493224" cy="29188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Please do not include space or dash between the credit/debit card numbers</a:t>
            </a:r>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p:cNvSpPr/>
          <p:nvPr/>
        </p:nvSpPr>
        <p:spPr>
          <a:xfrm>
            <a:off x="3521758" y="6184931"/>
            <a:ext cx="2493224" cy="1562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Card Type </a:t>
            </a:r>
            <a:r>
              <a:rPr lang="en-US" sz="840"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Rectangle 55"/>
          <p:cNvSpPr/>
          <p:nvPr/>
        </p:nvSpPr>
        <p:spPr>
          <a:xfrm>
            <a:off x="3590401" y="6339099"/>
            <a:ext cx="1332139" cy="20717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Visa</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58" name="Picture 57"/>
          <p:cNvPicPr>
            <a:picLocks noChangeAspect="1"/>
          </p:cNvPicPr>
          <p:nvPr/>
        </p:nvPicPr>
        <p:blipFill>
          <a:blip r:embed="rId6"/>
          <a:stretch>
            <a:fillRect/>
          </a:stretch>
        </p:blipFill>
        <p:spPr>
          <a:xfrm>
            <a:off x="4754322" y="6352771"/>
            <a:ext cx="120021" cy="188033"/>
          </a:xfrm>
          <a:prstGeom prst="rect">
            <a:avLst/>
          </a:prstGeom>
        </p:spPr>
      </p:pic>
      <p:sp>
        <p:nvSpPr>
          <p:cNvPr id="59" name="Rectangle 58"/>
          <p:cNvSpPr/>
          <p:nvPr/>
        </p:nvSpPr>
        <p:spPr>
          <a:xfrm>
            <a:off x="3523165" y="6569242"/>
            <a:ext cx="2487953" cy="1562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Card Expiry Date </a:t>
            </a:r>
            <a:r>
              <a:rPr lang="en-US" sz="840"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Rectangle 59"/>
          <p:cNvSpPr/>
          <p:nvPr/>
        </p:nvSpPr>
        <p:spPr>
          <a:xfrm>
            <a:off x="3589322" y="6727450"/>
            <a:ext cx="609526" cy="20717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6" name="Rectangle 65"/>
          <p:cNvSpPr/>
          <p:nvPr/>
        </p:nvSpPr>
        <p:spPr>
          <a:xfrm>
            <a:off x="4313013" y="6726758"/>
            <a:ext cx="609526" cy="20717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8" name="Rectangle 67"/>
          <p:cNvSpPr/>
          <p:nvPr/>
        </p:nvSpPr>
        <p:spPr>
          <a:xfrm>
            <a:off x="3521758" y="6959147"/>
            <a:ext cx="2493224" cy="1562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Card CVV/CV2 </a:t>
            </a:r>
            <a:r>
              <a:rPr lang="en-US" sz="840"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MY" sz="84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 name="Rectangle 68"/>
          <p:cNvSpPr/>
          <p:nvPr/>
        </p:nvSpPr>
        <p:spPr>
          <a:xfrm>
            <a:off x="3590401" y="7119452"/>
            <a:ext cx="1332139" cy="20717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5" name="Rectangle 74"/>
          <p:cNvSpPr/>
          <p:nvPr/>
        </p:nvSpPr>
        <p:spPr>
          <a:xfrm>
            <a:off x="3590400" y="7478293"/>
            <a:ext cx="609526" cy="207173"/>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Cancel</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6" name="Rectangle 75"/>
          <p:cNvSpPr/>
          <p:nvPr/>
        </p:nvSpPr>
        <p:spPr>
          <a:xfrm>
            <a:off x="4314091" y="7477601"/>
            <a:ext cx="609526" cy="207173"/>
          </a:xfrm>
          <a:prstGeom prst="rect">
            <a:avLst/>
          </a:prstGeom>
          <a:solidFill>
            <a:schemeClr val="accent6">
              <a:lumMod val="75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840" dirty="0">
                <a:solidFill>
                  <a:schemeClr val="bg1"/>
                </a:solidFill>
                <a:latin typeface="Open Sans" panose="020B0606030504020204" pitchFamily="34" charset="0"/>
                <a:ea typeface="Open Sans" panose="020B0606030504020204" pitchFamily="34" charset="0"/>
                <a:cs typeface="Open Sans" panose="020B0606030504020204" pitchFamily="34" charset="0"/>
              </a:rPr>
              <a:t>Submit</a:t>
            </a:r>
            <a:endParaRPr lang="en-MY" sz="84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6" name="TextBox 85"/>
          <p:cNvSpPr txBox="1"/>
          <p:nvPr/>
        </p:nvSpPr>
        <p:spPr>
          <a:xfrm>
            <a:off x="3529168" y="7874649"/>
            <a:ext cx="2480250" cy="1902059"/>
          </a:xfrm>
          <a:prstGeom prst="rect">
            <a:avLst/>
          </a:prstGeom>
          <a:solidFill>
            <a:schemeClr val="bg1">
              <a:lumMod val="85000"/>
            </a:schemeClr>
          </a:solidFill>
        </p:spPr>
        <p:txBody>
          <a:bodyPr wrap="square" rtlCol="0">
            <a:spAutoFit/>
          </a:bodyPr>
          <a:lstStyle/>
          <a:p>
            <a:pPr defTabSz="302400"/>
            <a:r>
              <a:rPr lang="en-US" sz="840" b="1" dirty="0">
                <a:latin typeface="Open Sans" panose="020B0606030504020204" pitchFamily="34" charset="0"/>
                <a:ea typeface="Open Sans" panose="020B0606030504020204" pitchFamily="34" charset="0"/>
                <a:cs typeface="Open Sans" panose="020B0606030504020204" pitchFamily="34" charset="0"/>
              </a:rPr>
              <a:t>Note:</a:t>
            </a:r>
          </a:p>
          <a:p>
            <a:pPr defTabSz="302400"/>
            <a:r>
              <a:rPr lang="en-US" sz="840" dirty="0">
                <a:latin typeface="Open Sans" panose="020B0606030504020204" pitchFamily="34" charset="0"/>
                <a:ea typeface="Open Sans" panose="020B0606030504020204" pitchFamily="34" charset="0"/>
                <a:cs typeface="Open Sans" panose="020B0606030504020204" pitchFamily="34" charset="0"/>
              </a:rPr>
              <a:t>Upon clicking on Submit, you will be redirected to the bank system. Please do not refresh or closed your browser until your transaction has completed.</a:t>
            </a:r>
          </a:p>
          <a:p>
            <a:pP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a:p>
            <a:pPr defTabSz="302400"/>
            <a:r>
              <a:rPr lang="en-US" sz="840" dirty="0">
                <a:latin typeface="Open Sans" panose="020B0606030504020204" pitchFamily="34" charset="0"/>
                <a:ea typeface="Open Sans" panose="020B0606030504020204" pitchFamily="34" charset="0"/>
                <a:cs typeface="Open Sans" panose="020B0606030504020204" pitchFamily="34" charset="0"/>
              </a:rPr>
              <a:t>This page requires Internet Explorer 6.0 above or compatible browser.</a:t>
            </a:r>
          </a:p>
          <a:p>
            <a:pP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a:p>
            <a:pPr defTabSz="302400"/>
            <a:r>
              <a:rPr lang="en-US" sz="840" dirty="0">
                <a:latin typeface="Open Sans" panose="020B0606030504020204" pitchFamily="34" charset="0"/>
                <a:ea typeface="Open Sans" panose="020B0606030504020204" pitchFamily="34" charset="0"/>
                <a:cs typeface="Open Sans" panose="020B0606030504020204" pitchFamily="34" charset="0"/>
              </a:rPr>
              <a:t>Pop-up killers should also be disabled before you proceed.</a:t>
            </a:r>
          </a:p>
          <a:p>
            <a:pP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a:p>
            <a:pPr defTabSz="302400"/>
            <a:r>
              <a:rPr lang="en-US" sz="840" dirty="0">
                <a:latin typeface="Open Sans" panose="020B0606030504020204" pitchFamily="34" charset="0"/>
                <a:ea typeface="Open Sans" panose="020B0606030504020204" pitchFamily="34" charset="0"/>
                <a:cs typeface="Open Sans" panose="020B0606030504020204" pitchFamily="34" charset="0"/>
              </a:rPr>
              <a:t>Please ensure that cookies and </a:t>
            </a:r>
            <a:r>
              <a:rPr lang="en-US" sz="840" dirty="0" err="1">
                <a:latin typeface="Open Sans" panose="020B0606030504020204" pitchFamily="34" charset="0"/>
                <a:ea typeface="Open Sans" panose="020B0606030504020204" pitchFamily="34" charset="0"/>
                <a:cs typeface="Open Sans" panose="020B0606030504020204" pitchFamily="34" charset="0"/>
              </a:rPr>
              <a:t>Javascript</a:t>
            </a:r>
            <a:r>
              <a:rPr lang="en-US" sz="840" dirty="0">
                <a:latin typeface="Open Sans" panose="020B0606030504020204" pitchFamily="34" charset="0"/>
                <a:ea typeface="Open Sans" panose="020B0606030504020204" pitchFamily="34" charset="0"/>
                <a:cs typeface="Open Sans" panose="020B0606030504020204" pitchFamily="34" charset="0"/>
              </a:rPr>
              <a:t> is enabled on your browser.</a:t>
            </a:r>
          </a:p>
        </p:txBody>
      </p:sp>
      <p:sp>
        <p:nvSpPr>
          <p:cNvPr id="91" name="Rectangle 90"/>
          <p:cNvSpPr/>
          <p:nvPr/>
        </p:nvSpPr>
        <p:spPr>
          <a:xfrm>
            <a:off x="4438965" y="2964118"/>
            <a:ext cx="1576016" cy="280398"/>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12345678FUEGD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2" name="Rectangle 91"/>
          <p:cNvSpPr/>
          <p:nvPr/>
        </p:nvSpPr>
        <p:spPr>
          <a:xfrm>
            <a:off x="4439544" y="3243885"/>
            <a:ext cx="1575438" cy="201295"/>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b="1"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10,300,000</a:t>
            </a:r>
            <a:endParaRPr lang="en-MY" sz="840"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p:cNvPicPr>
            <a:picLocks noChangeAspect="1"/>
          </p:cNvPicPr>
          <p:nvPr/>
        </p:nvPicPr>
        <p:blipFill>
          <a:blip r:embed="rId8"/>
          <a:stretch>
            <a:fillRect/>
          </a:stretch>
        </p:blipFill>
        <p:spPr>
          <a:xfrm>
            <a:off x="5040191" y="9879896"/>
            <a:ext cx="867544" cy="340532"/>
          </a:xfrm>
          <a:prstGeom prst="rect">
            <a:avLst/>
          </a:prstGeom>
        </p:spPr>
      </p:pic>
      <p:pic>
        <p:nvPicPr>
          <p:cNvPr id="93" name="Picture 92"/>
          <p:cNvPicPr>
            <a:picLocks noChangeAspect="1"/>
          </p:cNvPicPr>
          <p:nvPr/>
        </p:nvPicPr>
        <p:blipFill>
          <a:blip r:embed="rId4"/>
          <a:stretch>
            <a:fillRect/>
          </a:stretch>
        </p:blipFill>
        <p:spPr>
          <a:xfrm>
            <a:off x="6432424" y="571500"/>
            <a:ext cx="2500441" cy="4447451"/>
          </a:xfrm>
          <a:prstGeom prst="rect">
            <a:avLst/>
          </a:prstGeom>
        </p:spPr>
      </p:pic>
      <p:sp>
        <p:nvSpPr>
          <p:cNvPr id="94" name="TextBox 93"/>
          <p:cNvSpPr txBox="1"/>
          <p:nvPr/>
        </p:nvSpPr>
        <p:spPr>
          <a:xfrm>
            <a:off x="6813489" y="728832"/>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MasterCard Secure Code</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95" name="Picture 94"/>
          <p:cNvPicPr>
            <a:picLocks noChangeAspect="1"/>
          </p:cNvPicPr>
          <p:nvPr/>
        </p:nvPicPr>
        <p:blipFill>
          <a:blip r:embed="rId7"/>
          <a:stretch>
            <a:fillRect/>
          </a:stretch>
        </p:blipFill>
        <p:spPr>
          <a:xfrm>
            <a:off x="6444257" y="1052898"/>
            <a:ext cx="2482258" cy="290476"/>
          </a:xfrm>
          <a:prstGeom prst="rect">
            <a:avLst/>
          </a:prstGeom>
        </p:spPr>
      </p:pic>
      <p:pic>
        <p:nvPicPr>
          <p:cNvPr id="98" name="Picture 9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87630" y="9898816"/>
            <a:ext cx="574286" cy="305714"/>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9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287783" y="9911003"/>
            <a:ext cx="514422" cy="305714"/>
          </a:xfrm>
          <a:prstGeom prst="rect">
            <a:avLst/>
          </a:prstGeom>
          <a:noFill/>
          <a:extLst>
            <a:ext uri="{909E8E84-426E-40DD-AFC4-6F175D3DCCD1}">
              <a14:hiddenFill xmlns:a14="http://schemas.microsoft.com/office/drawing/2010/main">
                <a:solidFill>
                  <a:srgbClr val="FFFFFF"/>
                </a:solidFill>
              </a14:hiddenFill>
            </a:ext>
          </a:extLst>
        </p:spPr>
      </p:pic>
      <p:sp>
        <p:nvSpPr>
          <p:cNvPr id="102" name="TextBox 101"/>
          <p:cNvSpPr txBox="1"/>
          <p:nvPr/>
        </p:nvSpPr>
        <p:spPr>
          <a:xfrm>
            <a:off x="6444257" y="1641625"/>
            <a:ext cx="2489767" cy="738664"/>
          </a:xfrm>
          <a:prstGeom prst="rect">
            <a:avLst/>
          </a:prstGeom>
          <a:noFill/>
        </p:spPr>
        <p:txBody>
          <a:bodyPr wrap="square" rtlCol="0">
            <a:spAutoFit/>
          </a:bodyPr>
          <a:lstStyle/>
          <a:p>
            <a:pPr defTabSz="302400"/>
            <a:r>
              <a:rPr lang="en-US" sz="840" b="1" dirty="0">
                <a:latin typeface="Open Sans" panose="020B0606030504020204" pitchFamily="34" charset="0"/>
                <a:ea typeface="Open Sans" panose="020B0606030504020204" pitchFamily="34" charset="0"/>
                <a:cs typeface="Open Sans" panose="020B0606030504020204" pitchFamily="34" charset="0"/>
              </a:rPr>
              <a:t>Enter Your Security </a:t>
            </a:r>
            <a:r>
              <a:rPr lang="en-US" sz="840" b="1" dirty="0" smtClean="0">
                <a:latin typeface="Open Sans" panose="020B0606030504020204" pitchFamily="34" charset="0"/>
                <a:ea typeface="Open Sans" panose="020B0606030504020204" pitchFamily="34" charset="0"/>
                <a:cs typeface="Open Sans" panose="020B0606030504020204" pitchFamily="34" charset="0"/>
              </a:rPr>
              <a:t>Code</a:t>
            </a:r>
          </a:p>
          <a:p>
            <a:pPr defTabSz="302400"/>
            <a:r>
              <a:rPr lang="en-MY" sz="840" dirty="0">
                <a:latin typeface="Open Sans" panose="020B0606030504020204" pitchFamily="34" charset="0"/>
                <a:ea typeface="Open Sans" panose="020B0606030504020204" pitchFamily="34" charset="0"/>
                <a:cs typeface="Open Sans" panose="020B0606030504020204" pitchFamily="34" charset="0"/>
              </a:rPr>
              <a:t>Please verify your online payment by entering the security code that we have just sent to you via SMS. This information is not shared with the merchant.</a:t>
            </a:r>
            <a:endParaRPr lang="en-US" sz="840" dirty="0">
              <a:latin typeface="Open Sans" panose="020B0606030504020204" pitchFamily="34" charset="0"/>
              <a:ea typeface="Open Sans" panose="020B0606030504020204" pitchFamily="34" charset="0"/>
              <a:cs typeface="Open Sans" panose="020B0606030504020204" pitchFamily="34" charset="0"/>
            </a:endParaRPr>
          </a:p>
        </p:txBody>
      </p:sp>
      <p:sp>
        <p:nvSpPr>
          <p:cNvPr id="103" name="Rectangle 102"/>
          <p:cNvSpPr/>
          <p:nvPr/>
        </p:nvSpPr>
        <p:spPr>
          <a:xfrm>
            <a:off x="6431266" y="2375066"/>
            <a:ext cx="1005068" cy="17990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Merchant Name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4" name="Rectangle 103"/>
          <p:cNvSpPr/>
          <p:nvPr/>
        </p:nvSpPr>
        <p:spPr>
          <a:xfrm>
            <a:off x="7436334" y="2373435"/>
            <a:ext cx="1496531" cy="18153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Numoni</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7" name="Rectangle 106"/>
          <p:cNvSpPr/>
          <p:nvPr/>
        </p:nvSpPr>
        <p:spPr>
          <a:xfrm>
            <a:off x="6431266" y="2555517"/>
            <a:ext cx="1005068"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8" name="Rectangle 107"/>
          <p:cNvSpPr/>
          <p:nvPr/>
        </p:nvSpPr>
        <p:spPr>
          <a:xfrm>
            <a:off x="7436334" y="2556243"/>
            <a:ext cx="1496531" cy="18343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10,300,000</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9" name="Rectangle 108"/>
          <p:cNvSpPr/>
          <p:nvPr/>
        </p:nvSpPr>
        <p:spPr>
          <a:xfrm>
            <a:off x="6431266" y="2740220"/>
            <a:ext cx="1005068"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Date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0" name="Rectangle 109"/>
          <p:cNvSpPr/>
          <p:nvPr/>
        </p:nvSpPr>
        <p:spPr>
          <a:xfrm>
            <a:off x="7436334" y="2739663"/>
            <a:ext cx="1496531" cy="1847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30-Jul-2016</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1" name="Rectangle 110"/>
          <p:cNvSpPr/>
          <p:nvPr/>
        </p:nvSpPr>
        <p:spPr>
          <a:xfrm>
            <a:off x="6431266" y="2923653"/>
            <a:ext cx="1005068"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Card Number</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2" name="Rectangle 111"/>
          <p:cNvSpPr/>
          <p:nvPr/>
        </p:nvSpPr>
        <p:spPr>
          <a:xfrm>
            <a:off x="7436334" y="2925746"/>
            <a:ext cx="1496531"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 </a:t>
            </a:r>
            <a:r>
              <a:rPr lang="en-US" sz="84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XXXX</a:t>
            </a:r>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84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XXXX</a:t>
            </a:r>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 6789</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3" name="Rectangle 112"/>
          <p:cNvSpPr/>
          <p:nvPr/>
        </p:nvSpPr>
        <p:spPr>
          <a:xfrm>
            <a:off x="6431266" y="3106529"/>
            <a:ext cx="1005068" cy="72692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t"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Message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4" name="Rectangle 113"/>
          <p:cNvSpPr/>
          <p:nvPr/>
        </p:nvSpPr>
        <p:spPr>
          <a:xfrm>
            <a:off x="7436334" y="3108328"/>
            <a:ext cx="1496531" cy="72495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t" anchorCtr="0" forceAA="0" compatLnSpc="1">
            <a:prstTxWarp prst="textNoShape">
              <a:avLst/>
            </a:prstTxWarp>
            <a:noAutofit/>
          </a:bodyPr>
          <a:lstStyle/>
          <a:p>
            <a:r>
              <a:rPr lang="en-MY"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We </a:t>
            </a:r>
            <a:r>
              <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have sent your security code to the mobile number ending in XXX, that is registered on this account.</a:t>
            </a:r>
          </a:p>
        </p:txBody>
      </p:sp>
      <p:sp>
        <p:nvSpPr>
          <p:cNvPr id="115" name="Rectangle 114"/>
          <p:cNvSpPr/>
          <p:nvPr/>
        </p:nvSpPr>
        <p:spPr>
          <a:xfrm>
            <a:off x="6430107" y="3834091"/>
            <a:ext cx="1003712"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Security Code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6" name="Rectangle 115"/>
          <p:cNvSpPr/>
          <p:nvPr/>
        </p:nvSpPr>
        <p:spPr>
          <a:xfrm>
            <a:off x="7433819" y="3833534"/>
            <a:ext cx="1416645" cy="18471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7" name="Rectangle 116"/>
          <p:cNvSpPr/>
          <p:nvPr/>
        </p:nvSpPr>
        <p:spPr>
          <a:xfrm>
            <a:off x="7435284" y="4019644"/>
            <a:ext cx="1496531" cy="28805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840" u="sng" dirty="0">
                <a:solidFill>
                  <a:schemeClr val="tx1"/>
                </a:solidFill>
                <a:latin typeface="Open Sans" panose="020B0606030504020204" pitchFamily="34" charset="0"/>
                <a:ea typeface="Open Sans" panose="020B0606030504020204" pitchFamily="34" charset="0"/>
                <a:cs typeface="Open Sans" panose="020B0606030504020204" pitchFamily="34" charset="0"/>
              </a:rPr>
              <a:t>Didn't receive a security code?</a:t>
            </a:r>
          </a:p>
        </p:txBody>
      </p:sp>
      <p:sp>
        <p:nvSpPr>
          <p:cNvPr id="118" name="Rectangle 117"/>
          <p:cNvSpPr/>
          <p:nvPr/>
        </p:nvSpPr>
        <p:spPr>
          <a:xfrm>
            <a:off x="7433819" y="4400356"/>
            <a:ext cx="609526" cy="207173"/>
          </a:xfrm>
          <a:prstGeom prst="rect">
            <a:avLst/>
          </a:prstGeom>
          <a:solidFill>
            <a:schemeClr val="accent6">
              <a:lumMod val="75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840" dirty="0">
                <a:solidFill>
                  <a:schemeClr val="bg1"/>
                </a:solidFill>
                <a:latin typeface="Open Sans" panose="020B0606030504020204" pitchFamily="34" charset="0"/>
                <a:ea typeface="Open Sans" panose="020B0606030504020204" pitchFamily="34" charset="0"/>
                <a:cs typeface="Open Sans" panose="020B0606030504020204" pitchFamily="34" charset="0"/>
              </a:rPr>
              <a:t>Submit</a:t>
            </a:r>
            <a:endParaRPr lang="en-MY" sz="84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9" name="Rectangle 118"/>
          <p:cNvSpPr/>
          <p:nvPr/>
        </p:nvSpPr>
        <p:spPr>
          <a:xfrm>
            <a:off x="8388179" y="4400356"/>
            <a:ext cx="538335" cy="20717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840" u="sng" dirty="0" smtClean="0">
                <a:solidFill>
                  <a:srgbClr val="0000CC"/>
                </a:solidFill>
                <a:latin typeface="Open Sans" panose="020B0606030504020204" pitchFamily="34" charset="0"/>
                <a:ea typeface="Open Sans" panose="020B0606030504020204" pitchFamily="34" charset="0"/>
                <a:cs typeface="Open Sans" panose="020B0606030504020204" pitchFamily="34" charset="0"/>
              </a:rPr>
              <a:t>Cancel</a:t>
            </a:r>
            <a:endParaRPr lang="en-MY" sz="840" u="sng" dirty="0">
              <a:solidFill>
                <a:srgbClr val="0000CC"/>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0" name="Rectangle 119"/>
          <p:cNvSpPr/>
          <p:nvPr/>
        </p:nvSpPr>
        <p:spPr>
          <a:xfrm>
            <a:off x="7433819" y="4612720"/>
            <a:ext cx="767702" cy="20717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840" u="sng" dirty="0" smtClean="0">
                <a:solidFill>
                  <a:srgbClr val="0000CC"/>
                </a:solidFill>
                <a:latin typeface="Open Sans" panose="020B0606030504020204" pitchFamily="34" charset="0"/>
                <a:ea typeface="Open Sans" panose="020B0606030504020204" pitchFamily="34" charset="0"/>
                <a:cs typeface="Open Sans" panose="020B0606030504020204" pitchFamily="34" charset="0"/>
              </a:rPr>
              <a:t>Exit</a:t>
            </a:r>
            <a:endParaRPr lang="en-MY" sz="840" u="sng" dirty="0">
              <a:solidFill>
                <a:srgbClr val="0000CC"/>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21" name="Picture 120"/>
          <p:cNvPicPr>
            <a:picLocks noChangeAspect="1"/>
          </p:cNvPicPr>
          <p:nvPr/>
        </p:nvPicPr>
        <p:blipFill>
          <a:blip r:embed="rId4"/>
          <a:stretch>
            <a:fillRect/>
          </a:stretch>
        </p:blipFill>
        <p:spPr>
          <a:xfrm>
            <a:off x="6434160" y="5432445"/>
            <a:ext cx="2500441" cy="4447451"/>
          </a:xfrm>
          <a:prstGeom prst="rect">
            <a:avLst/>
          </a:prstGeom>
        </p:spPr>
      </p:pic>
      <p:sp>
        <p:nvSpPr>
          <p:cNvPr id="122" name="TextBox 121"/>
          <p:cNvSpPr txBox="1"/>
          <p:nvPr/>
        </p:nvSpPr>
        <p:spPr>
          <a:xfrm>
            <a:off x="6815225" y="5589777"/>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Verified By Visa</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23" name="Picture 122"/>
          <p:cNvPicPr>
            <a:picLocks noChangeAspect="1"/>
          </p:cNvPicPr>
          <p:nvPr/>
        </p:nvPicPr>
        <p:blipFill>
          <a:blip r:embed="rId7"/>
          <a:stretch>
            <a:fillRect/>
          </a:stretch>
        </p:blipFill>
        <p:spPr>
          <a:xfrm>
            <a:off x="6445993" y="5913843"/>
            <a:ext cx="2482258" cy="290476"/>
          </a:xfrm>
          <a:prstGeom prst="rect">
            <a:avLst/>
          </a:prstGeom>
        </p:spPr>
      </p:pic>
      <p:pic>
        <p:nvPicPr>
          <p:cNvPr id="142" name="Picture 14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14040" y="1363906"/>
            <a:ext cx="514422" cy="305714"/>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526346" y="6227480"/>
            <a:ext cx="574286" cy="305714"/>
          </a:xfrm>
          <a:prstGeom prst="rect">
            <a:avLst/>
          </a:prstGeom>
          <a:noFill/>
          <a:extLst>
            <a:ext uri="{909E8E84-426E-40DD-AFC4-6F175D3DCCD1}">
              <a14:hiddenFill xmlns:a14="http://schemas.microsoft.com/office/drawing/2010/main">
                <a:solidFill>
                  <a:srgbClr val="FFFFFF"/>
                </a:solidFill>
              </a14:hiddenFill>
            </a:ext>
          </a:extLst>
        </p:spPr>
      </p:pic>
      <p:sp>
        <p:nvSpPr>
          <p:cNvPr id="143" name="TextBox 142"/>
          <p:cNvSpPr txBox="1"/>
          <p:nvPr/>
        </p:nvSpPr>
        <p:spPr>
          <a:xfrm>
            <a:off x="6440241" y="6526054"/>
            <a:ext cx="2489767" cy="350865"/>
          </a:xfrm>
          <a:prstGeom prst="rect">
            <a:avLst/>
          </a:prstGeom>
          <a:noFill/>
        </p:spPr>
        <p:txBody>
          <a:bodyPr wrap="square" rtlCol="0">
            <a:spAutoFit/>
          </a:bodyPr>
          <a:lstStyle/>
          <a:p>
            <a:pPr defTabSz="302400"/>
            <a:r>
              <a:rPr lang="en-US" sz="840" b="1" dirty="0" smtClean="0">
                <a:latin typeface="Open Sans" panose="020B0606030504020204" pitchFamily="34" charset="0"/>
                <a:ea typeface="Open Sans" panose="020B0606030504020204" pitchFamily="34" charset="0"/>
                <a:cs typeface="Open Sans" panose="020B0606030504020204" pitchFamily="34" charset="0"/>
              </a:rPr>
              <a:t>Added Protection</a:t>
            </a:r>
          </a:p>
          <a:p>
            <a:pPr defTabSz="302400"/>
            <a:r>
              <a:rPr lang="en-MY" sz="840" dirty="0">
                <a:latin typeface="Open Sans" panose="020B0606030504020204" pitchFamily="34" charset="0"/>
                <a:ea typeface="Open Sans" panose="020B0606030504020204" pitchFamily="34" charset="0"/>
                <a:cs typeface="Open Sans" panose="020B0606030504020204" pitchFamily="34" charset="0"/>
              </a:rPr>
              <a:t>Please </a:t>
            </a:r>
            <a:r>
              <a:rPr lang="en-MY" sz="840" dirty="0" smtClean="0">
                <a:latin typeface="Open Sans" panose="020B0606030504020204" pitchFamily="34" charset="0"/>
                <a:ea typeface="Open Sans" panose="020B0606030504020204" pitchFamily="34" charset="0"/>
                <a:cs typeface="Open Sans" panose="020B0606030504020204" pitchFamily="34" charset="0"/>
              </a:rPr>
              <a:t>submit your Verified by Visa password.</a:t>
            </a:r>
            <a:endParaRPr lang="en-US" sz="840" dirty="0">
              <a:latin typeface="Open Sans" panose="020B0606030504020204" pitchFamily="34" charset="0"/>
              <a:ea typeface="Open Sans" panose="020B0606030504020204" pitchFamily="34" charset="0"/>
              <a:cs typeface="Open Sans" panose="020B0606030504020204" pitchFamily="34" charset="0"/>
            </a:endParaRPr>
          </a:p>
        </p:txBody>
      </p:sp>
      <p:sp>
        <p:nvSpPr>
          <p:cNvPr id="144" name="Rectangle 143"/>
          <p:cNvSpPr/>
          <p:nvPr/>
        </p:nvSpPr>
        <p:spPr>
          <a:xfrm>
            <a:off x="6427250" y="6903895"/>
            <a:ext cx="1005068" cy="17990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Merchant Name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5" name="Rectangle 144"/>
          <p:cNvSpPr/>
          <p:nvPr/>
        </p:nvSpPr>
        <p:spPr>
          <a:xfrm>
            <a:off x="7432318" y="6902264"/>
            <a:ext cx="1496531" cy="18153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Numoni</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6" name="Rectangle 145"/>
          <p:cNvSpPr/>
          <p:nvPr/>
        </p:nvSpPr>
        <p:spPr>
          <a:xfrm>
            <a:off x="6427250" y="7084346"/>
            <a:ext cx="1005068"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7" name="Rectangle 146"/>
          <p:cNvSpPr/>
          <p:nvPr/>
        </p:nvSpPr>
        <p:spPr>
          <a:xfrm>
            <a:off x="7432318" y="7085072"/>
            <a:ext cx="1496531" cy="18343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10,300,000</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8" name="Rectangle 147"/>
          <p:cNvSpPr/>
          <p:nvPr/>
        </p:nvSpPr>
        <p:spPr>
          <a:xfrm>
            <a:off x="6427250" y="7269049"/>
            <a:ext cx="1005068"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Date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9" name="Rectangle 148"/>
          <p:cNvSpPr/>
          <p:nvPr/>
        </p:nvSpPr>
        <p:spPr>
          <a:xfrm>
            <a:off x="7432318" y="7268492"/>
            <a:ext cx="1496531" cy="1847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30/07/2016</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0" name="Rectangle 149"/>
          <p:cNvSpPr/>
          <p:nvPr/>
        </p:nvSpPr>
        <p:spPr>
          <a:xfrm>
            <a:off x="6427250" y="7452482"/>
            <a:ext cx="1005068"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Card Number</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1" name="Rectangle 150"/>
          <p:cNvSpPr/>
          <p:nvPr/>
        </p:nvSpPr>
        <p:spPr>
          <a:xfrm>
            <a:off x="7432318" y="7454575"/>
            <a:ext cx="1496531"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 </a:t>
            </a:r>
            <a:r>
              <a:rPr lang="en-US" sz="84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XXXX</a:t>
            </a:r>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84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XXXX</a:t>
            </a:r>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0335</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2" name="Rectangle 151"/>
          <p:cNvSpPr/>
          <p:nvPr/>
        </p:nvSpPr>
        <p:spPr>
          <a:xfrm>
            <a:off x="6427250" y="7635359"/>
            <a:ext cx="1005068" cy="33427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t"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Personal Message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3" name="Rectangle 152"/>
          <p:cNvSpPr/>
          <p:nvPr/>
        </p:nvSpPr>
        <p:spPr>
          <a:xfrm>
            <a:off x="7432318" y="7637157"/>
            <a:ext cx="1496531" cy="33337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t" anchorCtr="0" forceAA="0" compatLnSpc="1">
            <a:prstTxWarp prst="textNoShape">
              <a:avLst/>
            </a:prstTxWarp>
            <a:noAutofit/>
          </a:bodyPr>
          <a:lstStyle/>
          <a:p>
            <a:r>
              <a:rPr lang="en-MY"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Shop securely with Verified by Visa.</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4" name="Rectangle 153"/>
          <p:cNvSpPr/>
          <p:nvPr/>
        </p:nvSpPr>
        <p:spPr>
          <a:xfrm>
            <a:off x="6426091" y="8010990"/>
            <a:ext cx="1003712"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Password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5" name="Rectangle 154"/>
          <p:cNvSpPr/>
          <p:nvPr/>
        </p:nvSpPr>
        <p:spPr>
          <a:xfrm>
            <a:off x="7429803" y="8010433"/>
            <a:ext cx="1416645" cy="18471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6" name="Rectangle 155"/>
          <p:cNvSpPr/>
          <p:nvPr/>
        </p:nvSpPr>
        <p:spPr>
          <a:xfrm>
            <a:off x="7431268" y="8196543"/>
            <a:ext cx="1496531" cy="28805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840" u="sng"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Forgot your password?</a:t>
            </a:r>
            <a:endParaRPr lang="en-MY" sz="840" u="sng"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7" name="Rectangle 156"/>
          <p:cNvSpPr/>
          <p:nvPr/>
        </p:nvSpPr>
        <p:spPr>
          <a:xfrm>
            <a:off x="7429803" y="8577255"/>
            <a:ext cx="609526" cy="207173"/>
          </a:xfrm>
          <a:prstGeom prst="rect">
            <a:avLst/>
          </a:prstGeom>
          <a:solidFill>
            <a:schemeClr val="accent6">
              <a:lumMod val="75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840" dirty="0">
                <a:solidFill>
                  <a:schemeClr val="bg1"/>
                </a:solidFill>
                <a:latin typeface="Open Sans" panose="020B0606030504020204" pitchFamily="34" charset="0"/>
                <a:ea typeface="Open Sans" panose="020B0606030504020204" pitchFamily="34" charset="0"/>
                <a:cs typeface="Open Sans" panose="020B0606030504020204" pitchFamily="34" charset="0"/>
              </a:rPr>
              <a:t>Submit</a:t>
            </a:r>
            <a:endParaRPr lang="en-MY" sz="84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8" name="Rectangle 157"/>
          <p:cNvSpPr/>
          <p:nvPr/>
        </p:nvSpPr>
        <p:spPr>
          <a:xfrm>
            <a:off x="8498398" y="8577255"/>
            <a:ext cx="424100" cy="20717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u="sng" dirty="0" smtClean="0">
                <a:solidFill>
                  <a:srgbClr val="0000CC"/>
                </a:solidFill>
                <a:latin typeface="Open Sans" panose="020B0606030504020204" pitchFamily="34" charset="0"/>
                <a:ea typeface="Open Sans" panose="020B0606030504020204" pitchFamily="34" charset="0"/>
                <a:cs typeface="Open Sans" panose="020B0606030504020204" pitchFamily="34" charset="0"/>
              </a:rPr>
              <a:t>Help</a:t>
            </a:r>
            <a:endParaRPr lang="en-MY" sz="840" u="sng" dirty="0">
              <a:solidFill>
                <a:srgbClr val="0000CC"/>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9" name="Rectangle 158"/>
          <p:cNvSpPr/>
          <p:nvPr/>
        </p:nvSpPr>
        <p:spPr>
          <a:xfrm>
            <a:off x="7429803" y="8789619"/>
            <a:ext cx="767702" cy="20717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840" u="sng" dirty="0" smtClean="0">
                <a:solidFill>
                  <a:srgbClr val="0000CC"/>
                </a:solidFill>
                <a:latin typeface="Open Sans" panose="020B0606030504020204" pitchFamily="34" charset="0"/>
                <a:ea typeface="Open Sans" panose="020B0606030504020204" pitchFamily="34" charset="0"/>
                <a:cs typeface="Open Sans" panose="020B0606030504020204" pitchFamily="34" charset="0"/>
              </a:rPr>
              <a:t>Help</a:t>
            </a:r>
            <a:endParaRPr lang="en-MY" sz="840" u="sng" dirty="0">
              <a:solidFill>
                <a:srgbClr val="0000CC"/>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60" name="Picture 159"/>
          <p:cNvPicPr>
            <a:picLocks noChangeAspect="1"/>
          </p:cNvPicPr>
          <p:nvPr/>
        </p:nvPicPr>
        <p:blipFill>
          <a:blip r:embed="rId4"/>
          <a:stretch>
            <a:fillRect/>
          </a:stretch>
        </p:blipFill>
        <p:spPr>
          <a:xfrm>
            <a:off x="9307580" y="571500"/>
            <a:ext cx="2500441" cy="4447451"/>
          </a:xfrm>
          <a:prstGeom prst="rect">
            <a:avLst/>
          </a:prstGeom>
        </p:spPr>
      </p:pic>
      <p:sp>
        <p:nvSpPr>
          <p:cNvPr id="161" name="TextBox 160"/>
          <p:cNvSpPr txBox="1"/>
          <p:nvPr/>
        </p:nvSpPr>
        <p:spPr>
          <a:xfrm>
            <a:off x="9688645" y="728832"/>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Authenticate</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62" name="Picture 161"/>
          <p:cNvPicPr>
            <a:picLocks noChangeAspect="1"/>
          </p:cNvPicPr>
          <p:nvPr/>
        </p:nvPicPr>
        <p:blipFill>
          <a:blip r:embed="rId7"/>
          <a:stretch>
            <a:fillRect/>
          </a:stretch>
        </p:blipFill>
        <p:spPr>
          <a:xfrm>
            <a:off x="9319413" y="1052898"/>
            <a:ext cx="2482258" cy="290476"/>
          </a:xfrm>
          <a:prstGeom prst="rect">
            <a:avLst/>
          </a:prstGeom>
        </p:spPr>
      </p:pic>
      <p:pic>
        <p:nvPicPr>
          <p:cNvPr id="181" name="Picture 18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75344" y="1554933"/>
            <a:ext cx="2364911" cy="2042857"/>
          </a:xfrm>
          <a:prstGeom prst="rect">
            <a:avLst/>
          </a:prstGeom>
          <a:noFill/>
          <a:extLst>
            <a:ext uri="{909E8E84-426E-40DD-AFC4-6F175D3DCCD1}">
              <a14:hiddenFill xmlns:a14="http://schemas.microsoft.com/office/drawing/2010/main">
                <a:solidFill>
                  <a:srgbClr val="FFFFFF"/>
                </a:solidFill>
              </a14:hiddenFill>
            </a:ext>
          </a:extLst>
        </p:spPr>
      </p:pic>
      <p:pic>
        <p:nvPicPr>
          <p:cNvPr id="182" name="Picture 181"/>
          <p:cNvPicPr>
            <a:picLocks noChangeAspect="1"/>
          </p:cNvPicPr>
          <p:nvPr/>
        </p:nvPicPr>
        <p:blipFill>
          <a:blip r:embed="rId4"/>
          <a:stretch>
            <a:fillRect/>
          </a:stretch>
        </p:blipFill>
        <p:spPr>
          <a:xfrm>
            <a:off x="9315666" y="5463552"/>
            <a:ext cx="2500441" cy="4447451"/>
          </a:xfrm>
          <a:prstGeom prst="rect">
            <a:avLst/>
          </a:prstGeom>
        </p:spPr>
      </p:pic>
      <p:sp>
        <p:nvSpPr>
          <p:cNvPr id="183" name="TextBox 182"/>
          <p:cNvSpPr txBox="1"/>
          <p:nvPr/>
        </p:nvSpPr>
        <p:spPr>
          <a:xfrm>
            <a:off x="9696731" y="5620884"/>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Payment Successful</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6" name="TextBox 185"/>
          <p:cNvSpPr txBox="1"/>
          <p:nvPr/>
        </p:nvSpPr>
        <p:spPr>
          <a:xfrm>
            <a:off x="9318975" y="6183018"/>
            <a:ext cx="2489767" cy="1320361"/>
          </a:xfrm>
          <a:prstGeom prst="rect">
            <a:avLst/>
          </a:prstGeom>
          <a:noFill/>
        </p:spPr>
        <p:txBody>
          <a:bodyPr wrap="square" rtlCol="0">
            <a:spAutoFit/>
          </a:bodyPr>
          <a:lstStyle/>
          <a:p>
            <a:pPr algn="ctr" defTabSz="302400"/>
            <a:r>
              <a:rPr lang="en-US" sz="840" b="1" dirty="0" smtClean="0">
                <a:latin typeface="Open Sans" panose="020B0606030504020204" pitchFamily="34" charset="0"/>
                <a:ea typeface="Open Sans" panose="020B0606030504020204" pitchFamily="34" charset="0"/>
                <a:cs typeface="Open Sans" panose="020B0606030504020204" pitchFamily="34" charset="0"/>
              </a:rPr>
              <a:t>Thank You!</a:t>
            </a:r>
          </a:p>
          <a:p>
            <a:pPr algn="ctr" defTabSz="302400"/>
            <a:endParaRPr lang="en-US" sz="840" b="1" dirty="0" smtClean="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MY" sz="840" dirty="0" smtClean="0">
                <a:latin typeface="Open Sans" panose="020B0606030504020204" pitchFamily="34" charset="0"/>
                <a:ea typeface="Open Sans" panose="020B0606030504020204" pitchFamily="34" charset="0"/>
                <a:cs typeface="Open Sans" panose="020B0606030504020204" pitchFamily="34" charset="0"/>
              </a:rPr>
              <a:t>Your Transaction was Successful.</a:t>
            </a:r>
          </a:p>
          <a:p>
            <a:pPr algn="ct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US" sz="84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_________________________________________</a:t>
            </a:r>
            <a:endParaRPr lang="en-MY" sz="84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gn="ctr" defTabSz="302400"/>
            <a:endParaRPr lang="en-US" sz="840" dirty="0" smtClean="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US" sz="700" dirty="0" smtClean="0">
                <a:solidFill>
                  <a:srgbClr val="FF0000"/>
                </a:solidFill>
                <a:latin typeface="Open Sans" panose="020B0606030504020204" pitchFamily="34" charset="0"/>
                <a:ea typeface="Open Sans" panose="020B0606030504020204" pitchFamily="34" charset="0"/>
                <a:cs typeface="Open Sans" panose="020B0606030504020204" pitchFamily="34" charset="0"/>
              </a:rPr>
              <a:t>Please wait… </a:t>
            </a:r>
            <a:r>
              <a:rPr lang="en-US" sz="700" dirty="0" smtClean="0">
                <a:latin typeface="Open Sans" panose="020B0606030504020204" pitchFamily="34" charset="0"/>
                <a:ea typeface="Open Sans" panose="020B0606030504020204" pitchFamily="34" charset="0"/>
                <a:cs typeface="Open Sans" panose="020B0606030504020204" pitchFamily="34" charset="0"/>
              </a:rPr>
              <a:t>whilst we finish processing your payment.</a:t>
            </a:r>
          </a:p>
          <a:p>
            <a:pPr algn="ctr" defTabSz="302400"/>
            <a:r>
              <a:rPr lang="en-US" sz="700" dirty="0" smtClean="0">
                <a:latin typeface="Open Sans" panose="020B0606030504020204" pitchFamily="34" charset="0"/>
                <a:ea typeface="Open Sans" panose="020B0606030504020204" pitchFamily="34" charset="0"/>
                <a:cs typeface="Open Sans" panose="020B0606030504020204" pitchFamily="34" charset="0"/>
              </a:rPr>
              <a:t>If you are not automatically re-direction in 10 seconds, please click </a:t>
            </a:r>
            <a:r>
              <a:rPr lang="en-US" sz="700" u="sng" dirty="0" smtClean="0">
                <a:solidFill>
                  <a:srgbClr val="0000CC"/>
                </a:solidFill>
                <a:latin typeface="Open Sans" panose="020B0606030504020204" pitchFamily="34" charset="0"/>
                <a:ea typeface="Open Sans" panose="020B0606030504020204" pitchFamily="34" charset="0"/>
                <a:cs typeface="Open Sans" panose="020B0606030504020204" pitchFamily="34" charset="0"/>
              </a:rPr>
              <a:t>here</a:t>
            </a:r>
            <a:r>
              <a:rPr lang="en-US" sz="700" dirty="0" smtClean="0">
                <a:latin typeface="Open Sans" panose="020B0606030504020204" pitchFamily="34" charset="0"/>
                <a:ea typeface="Open Sans" panose="020B0606030504020204" pitchFamily="34" charset="0"/>
                <a:cs typeface="Open Sans" panose="020B0606030504020204" pitchFamily="34" charset="0"/>
              </a:rPr>
              <a:t>.</a:t>
            </a:r>
            <a:endParaRPr lang="en-US" sz="700" dirty="0">
              <a:latin typeface="Open Sans" panose="020B0606030504020204" pitchFamily="34" charset="0"/>
              <a:ea typeface="Open Sans" panose="020B0606030504020204" pitchFamily="34" charset="0"/>
              <a:cs typeface="Open Sans" panose="020B0606030504020204" pitchFamily="34" charset="0"/>
            </a:endParaRPr>
          </a:p>
          <a:p>
            <a:pP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p:txBody>
      </p:sp>
      <p:pic>
        <p:nvPicPr>
          <p:cNvPr id="105" name="Picture 104"/>
          <p:cNvPicPr>
            <a:picLocks noChangeAspect="1"/>
          </p:cNvPicPr>
          <p:nvPr/>
        </p:nvPicPr>
        <p:blipFill>
          <a:blip r:embed="rId4"/>
          <a:stretch>
            <a:fillRect/>
          </a:stretch>
        </p:blipFill>
        <p:spPr>
          <a:xfrm>
            <a:off x="555969" y="5871373"/>
            <a:ext cx="2500441" cy="4447451"/>
          </a:xfrm>
          <a:prstGeom prst="rect">
            <a:avLst/>
          </a:prstGeom>
        </p:spPr>
      </p:pic>
      <p:sp>
        <p:nvSpPr>
          <p:cNvPr id="106" name="TextBox 105"/>
          <p:cNvSpPr txBox="1"/>
          <p:nvPr/>
        </p:nvSpPr>
        <p:spPr>
          <a:xfrm>
            <a:off x="937034" y="6028705"/>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Transaction Notification</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7" name="Rectangle 126"/>
          <p:cNvSpPr/>
          <p:nvPr/>
        </p:nvSpPr>
        <p:spPr>
          <a:xfrm>
            <a:off x="549058" y="6515134"/>
            <a:ext cx="1117217" cy="17990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Merchant </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8" name="Rectangle 127"/>
          <p:cNvSpPr/>
          <p:nvPr/>
        </p:nvSpPr>
        <p:spPr>
          <a:xfrm>
            <a:off x="1583071" y="6513503"/>
            <a:ext cx="1467587" cy="18153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900" dirty="0" err="1">
                <a:solidFill>
                  <a:schemeClr val="tx1"/>
                </a:solidFill>
              </a:rPr>
              <a:t>xxxxxxxxxx</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9" name="Rectangle 128"/>
          <p:cNvSpPr/>
          <p:nvPr/>
        </p:nvSpPr>
        <p:spPr>
          <a:xfrm>
            <a:off x="549058" y="6695585"/>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Numoni</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Ref</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0" name="Rectangle 129"/>
          <p:cNvSpPr/>
          <p:nvPr/>
        </p:nvSpPr>
        <p:spPr>
          <a:xfrm>
            <a:off x="1583071" y="6696311"/>
            <a:ext cx="1467587" cy="18343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xxxxxx</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1" name="Rectangle 130"/>
          <p:cNvSpPr/>
          <p:nvPr/>
        </p:nvSpPr>
        <p:spPr>
          <a:xfrm>
            <a:off x="549058" y="6880288"/>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Transaction ID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2" name="Rectangle 131"/>
          <p:cNvSpPr/>
          <p:nvPr/>
        </p:nvSpPr>
        <p:spPr>
          <a:xfrm>
            <a:off x="1583071" y="6879731"/>
            <a:ext cx="1467587" cy="1847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477CD14300F6000D01FD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Rectangle 132"/>
          <p:cNvSpPr/>
          <p:nvPr/>
        </p:nvSpPr>
        <p:spPr>
          <a:xfrm>
            <a:off x="549058" y="7066247"/>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Transaction Date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4" name="Rectangle 133"/>
          <p:cNvSpPr/>
          <p:nvPr/>
        </p:nvSpPr>
        <p:spPr>
          <a:xfrm>
            <a:off x="1583071" y="7065814"/>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2016-07-30 12:35:49</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4" name="Rectangle 163"/>
          <p:cNvSpPr/>
          <p:nvPr/>
        </p:nvSpPr>
        <p:spPr>
          <a:xfrm>
            <a:off x="549058" y="7250393"/>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5" name="Rectangle 164"/>
          <p:cNvSpPr/>
          <p:nvPr/>
        </p:nvSpPr>
        <p:spPr>
          <a:xfrm>
            <a:off x="1583071" y="7249960"/>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10,300,000</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6" name="Rectangle 165"/>
          <p:cNvSpPr/>
          <p:nvPr/>
        </p:nvSpPr>
        <p:spPr>
          <a:xfrm>
            <a:off x="544567" y="7432165"/>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Transaction Status</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7" name="Rectangle 166"/>
          <p:cNvSpPr/>
          <p:nvPr/>
        </p:nvSpPr>
        <p:spPr>
          <a:xfrm>
            <a:off x="1583071" y="7433232"/>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Approved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8" name="Rectangle 167"/>
          <p:cNvSpPr/>
          <p:nvPr/>
        </p:nvSpPr>
        <p:spPr>
          <a:xfrm>
            <a:off x="544567" y="7610118"/>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Auth</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Code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9" name="Rectangle 168"/>
          <p:cNvSpPr/>
          <p:nvPr/>
        </p:nvSpPr>
        <p:spPr>
          <a:xfrm>
            <a:off x="1583071" y="7611185"/>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xxxxx</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p:cNvPicPr>
            <a:picLocks noChangeAspect="1"/>
          </p:cNvPicPr>
          <p:nvPr/>
        </p:nvPicPr>
        <p:blipFill>
          <a:blip r:embed="rId12"/>
          <a:stretch>
            <a:fillRect/>
          </a:stretch>
        </p:blipFill>
        <p:spPr>
          <a:xfrm>
            <a:off x="1647987" y="7979449"/>
            <a:ext cx="325137" cy="325137"/>
          </a:xfrm>
          <a:prstGeom prst="rect">
            <a:avLst/>
          </a:prstGeom>
        </p:spPr>
      </p:pic>
      <p:pic>
        <p:nvPicPr>
          <p:cNvPr id="2" name="Picture 1"/>
          <p:cNvPicPr>
            <a:picLocks noChangeAspect="1"/>
          </p:cNvPicPr>
          <p:nvPr/>
        </p:nvPicPr>
        <p:blipFill>
          <a:blip r:embed="rId13"/>
          <a:stretch>
            <a:fillRect/>
          </a:stretch>
        </p:blipFill>
        <p:spPr>
          <a:xfrm>
            <a:off x="4770531" y="6791148"/>
            <a:ext cx="102870" cy="88583"/>
          </a:xfrm>
          <a:prstGeom prst="rect">
            <a:avLst/>
          </a:prstGeom>
        </p:spPr>
      </p:pic>
      <p:pic>
        <p:nvPicPr>
          <p:cNvPr id="124" name="Picture 123"/>
          <p:cNvPicPr>
            <a:picLocks noChangeAspect="1"/>
          </p:cNvPicPr>
          <p:nvPr/>
        </p:nvPicPr>
        <p:blipFill>
          <a:blip r:embed="rId13"/>
          <a:stretch>
            <a:fillRect/>
          </a:stretch>
        </p:blipFill>
        <p:spPr>
          <a:xfrm>
            <a:off x="4040794" y="6789001"/>
            <a:ext cx="102870" cy="88583"/>
          </a:xfrm>
          <a:prstGeom prst="rect">
            <a:avLst/>
          </a:prstGeom>
        </p:spPr>
      </p:pic>
    </p:spTree>
    <p:controls/>
    <p:extLst>
      <p:ext uri="{BB962C8B-B14F-4D97-AF65-F5344CB8AC3E}">
        <p14:creationId xmlns:p14="http://schemas.microsoft.com/office/powerpoint/2010/main" val="1381518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56"/>
          <p:cNvPicPr>
            <a:picLocks noChangeAspect="1"/>
          </p:cNvPicPr>
          <p:nvPr/>
        </p:nvPicPr>
        <p:blipFill>
          <a:blip r:embed="rId2"/>
          <a:stretch>
            <a:fillRect/>
          </a:stretch>
        </p:blipFill>
        <p:spPr>
          <a:xfrm>
            <a:off x="7119128" y="687321"/>
            <a:ext cx="2500441" cy="4447451"/>
          </a:xfrm>
          <a:prstGeom prst="rect">
            <a:avLst/>
          </a:prstGeom>
        </p:spPr>
      </p:pic>
      <p:sp>
        <p:nvSpPr>
          <p:cNvPr id="37" name="TextBox 36"/>
          <p:cNvSpPr txBox="1"/>
          <p:nvPr/>
        </p:nvSpPr>
        <p:spPr>
          <a:xfrm>
            <a:off x="4343274" y="834692"/>
            <a:ext cx="2119376" cy="253916"/>
          </a:xfrm>
          <a:prstGeom prst="rect">
            <a:avLst/>
          </a:prstGeom>
          <a:noFill/>
        </p:spPr>
        <p:txBody>
          <a:bodyPr wrap="square" rtlCol="0">
            <a:spAutoFit/>
          </a:bodyPr>
          <a:lstStyle/>
          <a:p>
            <a:r>
              <a:rPr lang="en-US"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Payment</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6" name="Picture 15"/>
          <p:cNvPicPr>
            <a:picLocks noChangeAspect="1"/>
          </p:cNvPicPr>
          <p:nvPr/>
        </p:nvPicPr>
        <p:blipFill>
          <a:blip r:embed="rId2"/>
          <a:stretch>
            <a:fillRect/>
          </a:stretch>
        </p:blipFill>
        <p:spPr>
          <a:xfrm>
            <a:off x="3962209" y="688340"/>
            <a:ext cx="2500441" cy="4447451"/>
          </a:xfrm>
          <a:prstGeom prst="rect">
            <a:avLst/>
          </a:prstGeom>
        </p:spPr>
      </p:pic>
      <p:sp>
        <p:nvSpPr>
          <p:cNvPr id="17" name="TextBox 16"/>
          <p:cNvSpPr txBox="1"/>
          <p:nvPr/>
        </p:nvSpPr>
        <p:spPr>
          <a:xfrm>
            <a:off x="4343274" y="845672"/>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Transaction History</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Rectangle 17"/>
          <p:cNvSpPr/>
          <p:nvPr/>
        </p:nvSpPr>
        <p:spPr>
          <a:xfrm>
            <a:off x="3969964" y="2316812"/>
            <a:ext cx="670993"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Date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7" name="Rectangle 46"/>
          <p:cNvSpPr/>
          <p:nvPr/>
        </p:nvSpPr>
        <p:spPr>
          <a:xfrm>
            <a:off x="3970759" y="2467554"/>
            <a:ext cx="670552" cy="17084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30-07-2016</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5" name="Rectangle 54"/>
          <p:cNvSpPr/>
          <p:nvPr/>
        </p:nvSpPr>
        <p:spPr>
          <a:xfrm>
            <a:off x="4640957" y="2316811"/>
            <a:ext cx="899775"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Type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Rectangle 55"/>
          <p:cNvSpPr/>
          <p:nvPr/>
        </p:nvSpPr>
        <p:spPr>
          <a:xfrm>
            <a:off x="4641311" y="2470716"/>
            <a:ext cx="899421" cy="172502"/>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Add Credit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Rectangle 58"/>
          <p:cNvSpPr/>
          <p:nvPr/>
        </p:nvSpPr>
        <p:spPr>
          <a:xfrm>
            <a:off x="5541086" y="2316810"/>
            <a:ext cx="914441"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1" name="Rectangle 60"/>
          <p:cNvSpPr/>
          <p:nvPr/>
        </p:nvSpPr>
        <p:spPr>
          <a:xfrm>
            <a:off x="5541086" y="2474240"/>
            <a:ext cx="914442" cy="16570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10,000,000</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2" name="Rectangle 61"/>
          <p:cNvSpPr/>
          <p:nvPr/>
        </p:nvSpPr>
        <p:spPr>
          <a:xfrm>
            <a:off x="4640958" y="2638073"/>
            <a:ext cx="899648"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Current Balance</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3" name="Rectangle 62"/>
          <p:cNvSpPr/>
          <p:nvPr/>
        </p:nvSpPr>
        <p:spPr>
          <a:xfrm>
            <a:off x="5541084" y="2633586"/>
            <a:ext cx="914443" cy="162388"/>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IDR 10,000,000</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4" name="Rectangle 63"/>
          <p:cNvSpPr/>
          <p:nvPr/>
        </p:nvSpPr>
        <p:spPr>
          <a:xfrm>
            <a:off x="3969964" y="2793975"/>
            <a:ext cx="670867"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Date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5" name="Rectangle 64"/>
          <p:cNvSpPr/>
          <p:nvPr/>
        </p:nvSpPr>
        <p:spPr>
          <a:xfrm>
            <a:off x="3970759" y="2947260"/>
            <a:ext cx="669946"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02-08-2016</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6" name="Rectangle 65"/>
          <p:cNvSpPr/>
          <p:nvPr/>
        </p:nvSpPr>
        <p:spPr>
          <a:xfrm>
            <a:off x="4640832" y="2792761"/>
            <a:ext cx="899774"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Type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7" name="Rectangle 66"/>
          <p:cNvSpPr/>
          <p:nvPr/>
        </p:nvSpPr>
        <p:spPr>
          <a:xfrm>
            <a:off x="4640705" y="2949347"/>
            <a:ext cx="899900"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Investment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8" name="Rectangle 67"/>
          <p:cNvSpPr/>
          <p:nvPr/>
        </p:nvSpPr>
        <p:spPr>
          <a:xfrm>
            <a:off x="5540732" y="2792760"/>
            <a:ext cx="914795"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9" name="Rectangle 68"/>
          <p:cNvSpPr/>
          <p:nvPr/>
        </p:nvSpPr>
        <p:spPr>
          <a:xfrm>
            <a:off x="5541086" y="2949346"/>
            <a:ext cx="914442" cy="15338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3,000,000</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1" name="Rectangle 70"/>
          <p:cNvSpPr/>
          <p:nvPr/>
        </p:nvSpPr>
        <p:spPr>
          <a:xfrm>
            <a:off x="5541084" y="3101639"/>
            <a:ext cx="914443" cy="158548"/>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IDR 7,000,000</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2" name="Rectangle 71"/>
          <p:cNvSpPr/>
          <p:nvPr/>
        </p:nvSpPr>
        <p:spPr>
          <a:xfrm>
            <a:off x="4641084" y="3100482"/>
            <a:ext cx="899648"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Current Balance</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3" name="Rectangle 72"/>
          <p:cNvSpPr/>
          <p:nvPr/>
        </p:nvSpPr>
        <p:spPr>
          <a:xfrm>
            <a:off x="3970389" y="3256365"/>
            <a:ext cx="670867"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Date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4" name="Rectangle 73"/>
          <p:cNvSpPr/>
          <p:nvPr/>
        </p:nvSpPr>
        <p:spPr>
          <a:xfrm>
            <a:off x="3971184" y="3413943"/>
            <a:ext cx="669946"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13-08-2016</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5" name="Rectangle 74"/>
          <p:cNvSpPr/>
          <p:nvPr/>
        </p:nvSpPr>
        <p:spPr>
          <a:xfrm>
            <a:off x="4641257" y="3255151"/>
            <a:ext cx="899774"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Type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6" name="Rectangle 75"/>
          <p:cNvSpPr/>
          <p:nvPr/>
        </p:nvSpPr>
        <p:spPr>
          <a:xfrm>
            <a:off x="4641130" y="3410232"/>
            <a:ext cx="899900"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Investment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7" name="Rectangle 76"/>
          <p:cNvSpPr/>
          <p:nvPr/>
        </p:nvSpPr>
        <p:spPr>
          <a:xfrm>
            <a:off x="5541157" y="3255150"/>
            <a:ext cx="914795"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8" name="Rectangle 77"/>
          <p:cNvSpPr/>
          <p:nvPr/>
        </p:nvSpPr>
        <p:spPr>
          <a:xfrm>
            <a:off x="5541511" y="3410231"/>
            <a:ext cx="914442"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1,000,000</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9" name="Rectangle 78"/>
          <p:cNvSpPr/>
          <p:nvPr/>
        </p:nvSpPr>
        <p:spPr>
          <a:xfrm>
            <a:off x="5541509" y="3563896"/>
            <a:ext cx="914443"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IDR 6,000,000</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0" name="Rectangle 79"/>
          <p:cNvSpPr/>
          <p:nvPr/>
        </p:nvSpPr>
        <p:spPr>
          <a:xfrm>
            <a:off x="4641509" y="3565660"/>
            <a:ext cx="899648"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Current Balance</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1" name="Rectangle 80"/>
          <p:cNvSpPr/>
          <p:nvPr/>
        </p:nvSpPr>
        <p:spPr>
          <a:xfrm>
            <a:off x="3970741" y="3719756"/>
            <a:ext cx="670867"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Date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2" name="Rectangle 81"/>
          <p:cNvSpPr/>
          <p:nvPr/>
        </p:nvSpPr>
        <p:spPr>
          <a:xfrm>
            <a:off x="3971536" y="3877334"/>
            <a:ext cx="669946"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26-08-2016</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3" name="Rectangle 82"/>
          <p:cNvSpPr/>
          <p:nvPr/>
        </p:nvSpPr>
        <p:spPr>
          <a:xfrm>
            <a:off x="4641609" y="3718542"/>
            <a:ext cx="899774"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Type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4" name="Rectangle 83"/>
          <p:cNvSpPr/>
          <p:nvPr/>
        </p:nvSpPr>
        <p:spPr>
          <a:xfrm>
            <a:off x="4641482" y="3873623"/>
            <a:ext cx="899900"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Capital Return</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5" name="Rectangle 84"/>
          <p:cNvSpPr/>
          <p:nvPr/>
        </p:nvSpPr>
        <p:spPr>
          <a:xfrm>
            <a:off x="5541509" y="3718541"/>
            <a:ext cx="914795"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6" name="Rectangle 85"/>
          <p:cNvSpPr/>
          <p:nvPr/>
        </p:nvSpPr>
        <p:spPr>
          <a:xfrm>
            <a:off x="5541863" y="3873622"/>
            <a:ext cx="914442"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a:t>
            </a:r>
            <a:r>
              <a:rPr lang="en-US" sz="700" dirty="0">
                <a:solidFill>
                  <a:schemeClr val="tx1"/>
                </a:solidFill>
                <a:latin typeface="Open Sans" panose="020B0606030504020204" pitchFamily="34" charset="0"/>
                <a:ea typeface="Open Sans" panose="020B0606030504020204" pitchFamily="34" charset="0"/>
                <a:cs typeface="Open Sans" panose="020B0606030504020204" pitchFamily="34" charset="0"/>
              </a:rPr>
              <a:t>3</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,000,000</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7" name="Rectangle 86"/>
          <p:cNvSpPr/>
          <p:nvPr/>
        </p:nvSpPr>
        <p:spPr>
          <a:xfrm>
            <a:off x="5541861" y="4027287"/>
            <a:ext cx="914443"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IDR 9,000,000</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8" name="Rectangle 87"/>
          <p:cNvSpPr/>
          <p:nvPr/>
        </p:nvSpPr>
        <p:spPr>
          <a:xfrm>
            <a:off x="4641861" y="4029051"/>
            <a:ext cx="899648"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Current Balance</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9" name="Rectangle 88"/>
          <p:cNvSpPr/>
          <p:nvPr/>
        </p:nvSpPr>
        <p:spPr>
          <a:xfrm>
            <a:off x="3969964" y="4183082"/>
            <a:ext cx="670867"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Date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0" name="Rectangle 89"/>
          <p:cNvSpPr/>
          <p:nvPr/>
        </p:nvSpPr>
        <p:spPr>
          <a:xfrm>
            <a:off x="3970759" y="4340660"/>
            <a:ext cx="669946"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26-08-2016</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1" name="Rectangle 90"/>
          <p:cNvSpPr/>
          <p:nvPr/>
        </p:nvSpPr>
        <p:spPr>
          <a:xfrm>
            <a:off x="4640832" y="4181868"/>
            <a:ext cx="899774"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Type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2" name="Rectangle 91"/>
          <p:cNvSpPr/>
          <p:nvPr/>
        </p:nvSpPr>
        <p:spPr>
          <a:xfrm>
            <a:off x="4640705" y="4336949"/>
            <a:ext cx="899900"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Interest Gain</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3" name="Rectangle 92"/>
          <p:cNvSpPr/>
          <p:nvPr/>
        </p:nvSpPr>
        <p:spPr>
          <a:xfrm>
            <a:off x="5540732" y="4181867"/>
            <a:ext cx="914795"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4" name="Rectangle 93"/>
          <p:cNvSpPr/>
          <p:nvPr/>
        </p:nvSpPr>
        <p:spPr>
          <a:xfrm>
            <a:off x="5541086" y="4336948"/>
            <a:ext cx="914442"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300,000</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5" name="Rectangle 94"/>
          <p:cNvSpPr/>
          <p:nvPr/>
        </p:nvSpPr>
        <p:spPr>
          <a:xfrm>
            <a:off x="5541084" y="4494906"/>
            <a:ext cx="914443"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IDR 9,300,000</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6" name="Rectangle 95"/>
          <p:cNvSpPr/>
          <p:nvPr/>
        </p:nvSpPr>
        <p:spPr>
          <a:xfrm>
            <a:off x="4641084" y="4498727"/>
            <a:ext cx="899648"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Current Balance</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p:cNvSpPr/>
          <p:nvPr/>
        </p:nvSpPr>
        <p:spPr>
          <a:xfrm>
            <a:off x="3962208" y="1284109"/>
            <a:ext cx="105893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Country</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6" name="Rectangle 45"/>
          <p:cNvSpPr/>
          <p:nvPr/>
        </p:nvSpPr>
        <p:spPr>
          <a:xfrm>
            <a:off x="5021145" y="1283552"/>
            <a:ext cx="1361421" cy="18471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Select Country</a:t>
            </a:r>
            <a:endParaRPr lang="en-MY" sz="840" dirty="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8" name="Rectangle 47"/>
          <p:cNvSpPr/>
          <p:nvPr/>
        </p:nvSpPr>
        <p:spPr>
          <a:xfrm>
            <a:off x="3962208" y="1533157"/>
            <a:ext cx="105893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View Transaction</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 name="Rectangle 48"/>
          <p:cNvSpPr/>
          <p:nvPr/>
        </p:nvSpPr>
        <p:spPr>
          <a:xfrm>
            <a:off x="5021145" y="1532600"/>
            <a:ext cx="1361421" cy="18471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Select </a:t>
            </a:r>
            <a:r>
              <a:rPr lang="en-US" sz="840" dirty="0" err="1"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Txn</a:t>
            </a:r>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 Period...</a:t>
            </a:r>
            <a:endParaRPr lang="en-MY" sz="840" dirty="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51" name="Picture 50"/>
          <p:cNvPicPr>
            <a:picLocks noChangeAspect="1"/>
          </p:cNvPicPr>
          <p:nvPr/>
        </p:nvPicPr>
        <p:blipFill>
          <a:blip r:embed="rId3"/>
          <a:stretch>
            <a:fillRect/>
          </a:stretch>
        </p:blipFill>
        <p:spPr>
          <a:xfrm>
            <a:off x="6231462" y="1333233"/>
            <a:ext cx="102870" cy="88583"/>
          </a:xfrm>
          <a:prstGeom prst="rect">
            <a:avLst/>
          </a:prstGeom>
        </p:spPr>
      </p:pic>
      <p:pic>
        <p:nvPicPr>
          <p:cNvPr id="52" name="Picture 51"/>
          <p:cNvPicPr>
            <a:picLocks noChangeAspect="1"/>
          </p:cNvPicPr>
          <p:nvPr/>
        </p:nvPicPr>
        <p:blipFill>
          <a:blip r:embed="rId3"/>
          <a:stretch>
            <a:fillRect/>
          </a:stretch>
        </p:blipFill>
        <p:spPr>
          <a:xfrm>
            <a:off x="6231462" y="1585070"/>
            <a:ext cx="102870" cy="88583"/>
          </a:xfrm>
          <a:prstGeom prst="rect">
            <a:avLst/>
          </a:prstGeom>
        </p:spPr>
      </p:pic>
      <p:sp>
        <p:nvSpPr>
          <p:cNvPr id="53" name="Rectangle 52"/>
          <p:cNvSpPr/>
          <p:nvPr/>
        </p:nvSpPr>
        <p:spPr>
          <a:xfrm>
            <a:off x="5021144" y="1717132"/>
            <a:ext cx="1361421" cy="30376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Last 1 Month</a:t>
            </a:r>
          </a:p>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Last 20 Transactions</a:t>
            </a:r>
            <a:endParaRPr lang="en-MY" sz="840" dirty="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TextBox 53"/>
          <p:cNvSpPr txBox="1"/>
          <p:nvPr/>
        </p:nvSpPr>
        <p:spPr>
          <a:xfrm>
            <a:off x="7500193" y="833673"/>
            <a:ext cx="2119376" cy="253916"/>
          </a:xfrm>
          <a:prstGeom prst="rect">
            <a:avLst/>
          </a:prstGeom>
          <a:noFill/>
        </p:spPr>
        <p:txBody>
          <a:bodyPr wrap="square" rtlCol="0">
            <a:spAutoFit/>
          </a:bodyPr>
          <a:lstStyle/>
          <a:p>
            <a:r>
              <a:rPr lang="en-US"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My Loans Portfolio</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Rectangle 59"/>
          <p:cNvSpPr/>
          <p:nvPr/>
        </p:nvSpPr>
        <p:spPr>
          <a:xfrm>
            <a:off x="7126884" y="2316806"/>
            <a:ext cx="474567" cy="224178"/>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Loan ID</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5" name="Rectangle 134"/>
          <p:cNvSpPr/>
          <p:nvPr/>
        </p:nvSpPr>
        <p:spPr>
          <a:xfrm>
            <a:off x="7119127" y="1283090"/>
            <a:ext cx="105893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Country</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6" name="Rectangle 135"/>
          <p:cNvSpPr/>
          <p:nvPr/>
        </p:nvSpPr>
        <p:spPr>
          <a:xfrm>
            <a:off x="8178064" y="1282533"/>
            <a:ext cx="1361421" cy="18471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Select Country</a:t>
            </a:r>
            <a:endParaRPr lang="en-MY" sz="840" dirty="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7" name="Rectangle 136"/>
          <p:cNvSpPr/>
          <p:nvPr/>
        </p:nvSpPr>
        <p:spPr>
          <a:xfrm>
            <a:off x="7119127" y="1532138"/>
            <a:ext cx="105893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View Portfolio</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8" name="Rectangle 137"/>
          <p:cNvSpPr/>
          <p:nvPr/>
        </p:nvSpPr>
        <p:spPr>
          <a:xfrm>
            <a:off x="8178064" y="1531581"/>
            <a:ext cx="1361421" cy="18471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Select Portfolio Return</a:t>
            </a:r>
            <a:endParaRPr lang="en-MY" sz="840" dirty="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39" name="Picture 138"/>
          <p:cNvPicPr>
            <a:picLocks noChangeAspect="1"/>
          </p:cNvPicPr>
          <p:nvPr/>
        </p:nvPicPr>
        <p:blipFill>
          <a:blip r:embed="rId3"/>
          <a:stretch>
            <a:fillRect/>
          </a:stretch>
        </p:blipFill>
        <p:spPr>
          <a:xfrm>
            <a:off x="9388381" y="1332214"/>
            <a:ext cx="102870" cy="88583"/>
          </a:xfrm>
          <a:prstGeom prst="rect">
            <a:avLst/>
          </a:prstGeom>
        </p:spPr>
      </p:pic>
      <p:pic>
        <p:nvPicPr>
          <p:cNvPr id="140" name="Picture 139"/>
          <p:cNvPicPr>
            <a:picLocks noChangeAspect="1"/>
          </p:cNvPicPr>
          <p:nvPr/>
        </p:nvPicPr>
        <p:blipFill>
          <a:blip r:embed="rId3"/>
          <a:stretch>
            <a:fillRect/>
          </a:stretch>
        </p:blipFill>
        <p:spPr>
          <a:xfrm>
            <a:off x="9388381" y="1584051"/>
            <a:ext cx="102870" cy="88583"/>
          </a:xfrm>
          <a:prstGeom prst="rect">
            <a:avLst/>
          </a:prstGeom>
        </p:spPr>
      </p:pic>
      <p:sp>
        <p:nvSpPr>
          <p:cNvPr id="141" name="Rectangle 140"/>
          <p:cNvSpPr/>
          <p:nvPr/>
        </p:nvSpPr>
        <p:spPr>
          <a:xfrm>
            <a:off x="8178063" y="1716113"/>
            <a:ext cx="1361421" cy="30376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Last 6 Months</a:t>
            </a:r>
          </a:p>
          <a:p>
            <a:r>
              <a:rPr lang="en-US" sz="840" dirty="0" smtClean="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Last 1 Year</a:t>
            </a:r>
            <a:endParaRPr lang="en-MY" sz="840" dirty="0">
              <a:solidFill>
                <a:schemeClr val="accent5">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5" name="Rectangle 144"/>
          <p:cNvSpPr/>
          <p:nvPr/>
        </p:nvSpPr>
        <p:spPr>
          <a:xfrm>
            <a:off x="8998561" y="2320955"/>
            <a:ext cx="292618" cy="21876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Tenure</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7" name="Rectangle 146"/>
          <p:cNvSpPr/>
          <p:nvPr/>
        </p:nvSpPr>
        <p:spPr>
          <a:xfrm>
            <a:off x="7129548" y="2735317"/>
            <a:ext cx="474567" cy="19284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XXXXXXXXXXX</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5" name="Rectangle 154"/>
          <p:cNvSpPr/>
          <p:nvPr/>
        </p:nvSpPr>
        <p:spPr>
          <a:xfrm>
            <a:off x="9290467" y="2320955"/>
            <a:ext cx="507766" cy="222322"/>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Investment Amount</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6" name="Rectangle 155"/>
          <p:cNvSpPr/>
          <p:nvPr/>
        </p:nvSpPr>
        <p:spPr>
          <a:xfrm>
            <a:off x="7601451" y="2316810"/>
            <a:ext cx="433311" cy="22544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Invested Date</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7" name="Rectangle 156"/>
          <p:cNvSpPr/>
          <p:nvPr/>
        </p:nvSpPr>
        <p:spPr>
          <a:xfrm>
            <a:off x="7604115" y="2735313"/>
            <a:ext cx="433311"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02-08-2016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8" name="Rectangle 157"/>
          <p:cNvSpPr/>
          <p:nvPr/>
        </p:nvSpPr>
        <p:spPr>
          <a:xfrm>
            <a:off x="9292418" y="2732491"/>
            <a:ext cx="510177" cy="19284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IDR3,000,000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9" name="Rectangle 158"/>
          <p:cNvSpPr/>
          <p:nvPr/>
        </p:nvSpPr>
        <p:spPr>
          <a:xfrm>
            <a:off x="9001225" y="2734835"/>
            <a:ext cx="292618" cy="19206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20 Days</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1" name="Rectangle 160"/>
          <p:cNvSpPr/>
          <p:nvPr/>
        </p:nvSpPr>
        <p:spPr>
          <a:xfrm>
            <a:off x="3969964" y="2163806"/>
            <a:ext cx="2485563"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Last 20 Transaction History</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2" name="Rectangle 161"/>
          <p:cNvSpPr/>
          <p:nvPr/>
        </p:nvSpPr>
        <p:spPr>
          <a:xfrm>
            <a:off x="7125477" y="2163248"/>
            <a:ext cx="4486779"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Portfolio Return over Last 6 Months</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9" name="Rectangle 178"/>
          <p:cNvSpPr/>
          <p:nvPr/>
        </p:nvSpPr>
        <p:spPr>
          <a:xfrm>
            <a:off x="3968558" y="4654878"/>
            <a:ext cx="670867"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Date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0" name="Rectangle 179"/>
          <p:cNvSpPr/>
          <p:nvPr/>
        </p:nvSpPr>
        <p:spPr>
          <a:xfrm>
            <a:off x="3969353" y="4812456"/>
            <a:ext cx="669946"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27-08-2016</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1" name="Rectangle 180"/>
          <p:cNvSpPr/>
          <p:nvPr/>
        </p:nvSpPr>
        <p:spPr>
          <a:xfrm>
            <a:off x="4639426" y="4653664"/>
            <a:ext cx="899774"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Type</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2" name="Rectangle 181"/>
          <p:cNvSpPr/>
          <p:nvPr/>
        </p:nvSpPr>
        <p:spPr>
          <a:xfrm>
            <a:off x="4639299" y="4808745"/>
            <a:ext cx="899900"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Capital Return</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3" name="Rectangle 182"/>
          <p:cNvSpPr/>
          <p:nvPr/>
        </p:nvSpPr>
        <p:spPr>
          <a:xfrm>
            <a:off x="5539326" y="4653663"/>
            <a:ext cx="914795" cy="154387"/>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4" name="Rectangle 183"/>
          <p:cNvSpPr/>
          <p:nvPr/>
        </p:nvSpPr>
        <p:spPr>
          <a:xfrm>
            <a:off x="5539680" y="4808744"/>
            <a:ext cx="914442" cy="15438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1,000,000</a:t>
            </a:r>
            <a:endParaRPr lang="en-MY" sz="7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5" name="Rectangle 184"/>
          <p:cNvSpPr/>
          <p:nvPr/>
        </p:nvSpPr>
        <p:spPr>
          <a:xfrm>
            <a:off x="5539678" y="4962409"/>
            <a:ext cx="914443"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IDR 9,000,000</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6" name="Rectangle 185"/>
          <p:cNvSpPr/>
          <p:nvPr/>
        </p:nvSpPr>
        <p:spPr>
          <a:xfrm>
            <a:off x="4639678" y="4964173"/>
            <a:ext cx="899648" cy="154387"/>
          </a:xfrm>
          <a:prstGeom prst="rect">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pPr algn="ctr"/>
            <a:r>
              <a:rPr lang="en-US" sz="700" dirty="0" smtClean="0">
                <a:solidFill>
                  <a:srgbClr val="FF6600"/>
                </a:solidFill>
                <a:latin typeface="Open Sans" panose="020B0606030504020204" pitchFamily="34" charset="0"/>
                <a:ea typeface="Open Sans" panose="020B0606030504020204" pitchFamily="34" charset="0"/>
                <a:cs typeface="Open Sans" panose="020B0606030504020204" pitchFamily="34" charset="0"/>
              </a:rPr>
              <a:t>Current Balance</a:t>
            </a:r>
            <a:endParaRPr lang="en-MY" sz="700" dirty="0">
              <a:solidFill>
                <a:srgbClr val="FF66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7" name="Rectangle 186"/>
          <p:cNvSpPr/>
          <p:nvPr/>
        </p:nvSpPr>
        <p:spPr>
          <a:xfrm>
            <a:off x="7131548" y="2927917"/>
            <a:ext cx="471538" cy="19284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XXXXXXXXXXX</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9" name="Rectangle 188"/>
          <p:cNvSpPr/>
          <p:nvPr/>
        </p:nvSpPr>
        <p:spPr>
          <a:xfrm>
            <a:off x="7603404" y="2928160"/>
            <a:ext cx="432494"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13-08-2016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0" name="Rectangle 189"/>
          <p:cNvSpPr/>
          <p:nvPr/>
        </p:nvSpPr>
        <p:spPr>
          <a:xfrm>
            <a:off x="9295683" y="2925338"/>
            <a:ext cx="506756" cy="19284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IDR1,000,000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1" name="Rectangle 190"/>
          <p:cNvSpPr/>
          <p:nvPr/>
        </p:nvSpPr>
        <p:spPr>
          <a:xfrm>
            <a:off x="9000513" y="2927682"/>
            <a:ext cx="292618" cy="19098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10 Days</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7" name="Rectangle 96"/>
          <p:cNvSpPr/>
          <p:nvPr/>
        </p:nvSpPr>
        <p:spPr>
          <a:xfrm>
            <a:off x="8564593" y="2314765"/>
            <a:ext cx="433311" cy="226219"/>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Maturity Date</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8" name="Rectangle 97"/>
          <p:cNvSpPr/>
          <p:nvPr/>
        </p:nvSpPr>
        <p:spPr>
          <a:xfrm>
            <a:off x="8567257" y="2734267"/>
            <a:ext cx="433311"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26-08-2016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0" name="Rectangle 99"/>
          <p:cNvSpPr/>
          <p:nvPr/>
        </p:nvSpPr>
        <p:spPr>
          <a:xfrm>
            <a:off x="8564705" y="2927113"/>
            <a:ext cx="435095"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27-08-2016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4" name="Rectangle 103"/>
          <p:cNvSpPr/>
          <p:nvPr/>
        </p:nvSpPr>
        <p:spPr>
          <a:xfrm>
            <a:off x="10813054" y="2417467"/>
            <a:ext cx="292562" cy="12372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9" name="Rectangle 98"/>
          <p:cNvSpPr/>
          <p:nvPr/>
        </p:nvSpPr>
        <p:spPr>
          <a:xfrm>
            <a:off x="10305012" y="2417467"/>
            <a:ext cx="508041" cy="12196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3" name="Rectangle 152"/>
          <p:cNvSpPr/>
          <p:nvPr/>
        </p:nvSpPr>
        <p:spPr>
          <a:xfrm>
            <a:off x="9797521" y="2318115"/>
            <a:ext cx="509190" cy="2213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Net Return</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4" name="Rectangle 153"/>
          <p:cNvSpPr/>
          <p:nvPr/>
        </p:nvSpPr>
        <p:spPr>
          <a:xfrm>
            <a:off x="9797931" y="2734468"/>
            <a:ext cx="511443" cy="190390"/>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IDR3,300,000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0" name="Rectangle 159"/>
          <p:cNvSpPr/>
          <p:nvPr/>
        </p:nvSpPr>
        <p:spPr>
          <a:xfrm>
            <a:off x="10815599" y="2926231"/>
            <a:ext cx="292681" cy="19171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8" name="Rectangle 187"/>
          <p:cNvSpPr/>
          <p:nvPr/>
        </p:nvSpPr>
        <p:spPr>
          <a:xfrm>
            <a:off x="9798377" y="2924858"/>
            <a:ext cx="510286" cy="19332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IDR1,100,000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2" name="Rectangle 191"/>
          <p:cNvSpPr/>
          <p:nvPr/>
        </p:nvSpPr>
        <p:spPr>
          <a:xfrm>
            <a:off x="10817092" y="2734251"/>
            <a:ext cx="291188" cy="18862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1" name="Rectangle 100"/>
          <p:cNvSpPr/>
          <p:nvPr/>
        </p:nvSpPr>
        <p:spPr>
          <a:xfrm>
            <a:off x="10305613" y="2317874"/>
            <a:ext cx="800004" cy="10221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Investment Return</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2" name="Rectangle 101"/>
          <p:cNvSpPr/>
          <p:nvPr/>
        </p:nvSpPr>
        <p:spPr>
          <a:xfrm>
            <a:off x="10309375" y="2732491"/>
            <a:ext cx="508478" cy="19038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IDR300,000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3" name="Rectangle 102"/>
          <p:cNvSpPr/>
          <p:nvPr/>
        </p:nvSpPr>
        <p:spPr>
          <a:xfrm>
            <a:off x="10309375" y="2925097"/>
            <a:ext cx="506224" cy="19284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IDR100,000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05" name="Picture 104"/>
          <p:cNvPicPr>
            <a:picLocks noChangeAspect="1"/>
          </p:cNvPicPr>
          <p:nvPr/>
        </p:nvPicPr>
        <p:blipFill>
          <a:blip r:embed="rId2"/>
          <a:stretch>
            <a:fillRect/>
          </a:stretch>
        </p:blipFill>
        <p:spPr>
          <a:xfrm>
            <a:off x="895112" y="701270"/>
            <a:ext cx="2500441" cy="4447451"/>
          </a:xfrm>
          <a:prstGeom prst="rect">
            <a:avLst/>
          </a:prstGeom>
        </p:spPr>
      </p:pic>
      <p:sp>
        <p:nvSpPr>
          <p:cNvPr id="106" name="TextBox 105"/>
          <p:cNvSpPr txBox="1"/>
          <p:nvPr/>
        </p:nvSpPr>
        <p:spPr>
          <a:xfrm>
            <a:off x="1276177" y="858602"/>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Transaction Notification</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7" name="Rectangle 106"/>
          <p:cNvSpPr/>
          <p:nvPr/>
        </p:nvSpPr>
        <p:spPr>
          <a:xfrm>
            <a:off x="888201" y="1345031"/>
            <a:ext cx="1117217" cy="17990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a:solidFill>
                  <a:schemeClr val="tx1"/>
                </a:solidFill>
                <a:latin typeface="Open Sans" panose="020B0606030504020204" pitchFamily="34" charset="0"/>
                <a:ea typeface="Open Sans" panose="020B0606030504020204" pitchFamily="34" charset="0"/>
                <a:cs typeface="Open Sans" panose="020B0606030504020204" pitchFamily="34" charset="0"/>
              </a:rPr>
              <a:t>Merchant </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8" name="Rectangle 107"/>
          <p:cNvSpPr/>
          <p:nvPr/>
        </p:nvSpPr>
        <p:spPr>
          <a:xfrm>
            <a:off x="1922214" y="1343400"/>
            <a:ext cx="1467587" cy="18153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MY" sz="900" dirty="0" err="1">
                <a:solidFill>
                  <a:schemeClr val="tx1"/>
                </a:solidFill>
              </a:rPr>
              <a:t>xxxxxxxxxx</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9" name="Rectangle 108"/>
          <p:cNvSpPr/>
          <p:nvPr/>
        </p:nvSpPr>
        <p:spPr>
          <a:xfrm>
            <a:off x="888201" y="1525482"/>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Numoni</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Txn</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Ref</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0" name="Rectangle 109"/>
          <p:cNvSpPr/>
          <p:nvPr/>
        </p:nvSpPr>
        <p:spPr>
          <a:xfrm>
            <a:off x="1922214" y="1526208"/>
            <a:ext cx="1467587" cy="183433"/>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xxxxxx</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1" name="Rectangle 110"/>
          <p:cNvSpPr/>
          <p:nvPr/>
        </p:nvSpPr>
        <p:spPr>
          <a:xfrm>
            <a:off x="888201" y="1710185"/>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Transaction ID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2" name="Rectangle 111"/>
          <p:cNvSpPr/>
          <p:nvPr/>
        </p:nvSpPr>
        <p:spPr>
          <a:xfrm>
            <a:off x="1922214" y="1709628"/>
            <a:ext cx="1467587" cy="18471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477CD14300F6000D01FD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3" name="Rectangle 112"/>
          <p:cNvSpPr/>
          <p:nvPr/>
        </p:nvSpPr>
        <p:spPr>
          <a:xfrm>
            <a:off x="888201" y="1896144"/>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Transaction Date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4" name="Rectangle 113"/>
          <p:cNvSpPr/>
          <p:nvPr/>
        </p:nvSpPr>
        <p:spPr>
          <a:xfrm>
            <a:off x="1922214" y="1895711"/>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2016-07-30 12:35:49</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5" name="Rectangle 114"/>
          <p:cNvSpPr/>
          <p:nvPr/>
        </p:nvSpPr>
        <p:spPr>
          <a:xfrm>
            <a:off x="888201" y="2080290"/>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Amount</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6" name="Rectangle 115"/>
          <p:cNvSpPr/>
          <p:nvPr/>
        </p:nvSpPr>
        <p:spPr>
          <a:xfrm>
            <a:off x="1922214" y="2079857"/>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 10,300,000</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7" name="Rectangle 116"/>
          <p:cNvSpPr/>
          <p:nvPr/>
        </p:nvSpPr>
        <p:spPr>
          <a:xfrm>
            <a:off x="883710" y="2262062"/>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Transaction Status</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8" name="Rectangle 117"/>
          <p:cNvSpPr/>
          <p:nvPr/>
        </p:nvSpPr>
        <p:spPr>
          <a:xfrm>
            <a:off x="1922214" y="2263129"/>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Approved</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9" name="Rectangle 118"/>
          <p:cNvSpPr/>
          <p:nvPr/>
        </p:nvSpPr>
        <p:spPr>
          <a:xfrm>
            <a:off x="883710" y="2440015"/>
            <a:ext cx="1117217" cy="18415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Auth</a:t>
            </a:r>
            <a:r>
              <a:rPr lang="en-US" sz="84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  Code</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0" name="Rectangle 119"/>
          <p:cNvSpPr/>
          <p:nvPr/>
        </p:nvSpPr>
        <p:spPr>
          <a:xfrm>
            <a:off x="1922214" y="2441082"/>
            <a:ext cx="1467587" cy="18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12" tIns="48006" rIns="96012" bIns="48006" numCol="1" spcCol="0" rtlCol="0" fromWordArt="0" anchor="ctr" anchorCtr="0" forceAA="0" compatLnSpc="1">
            <a:prstTxWarp prst="textNoShape">
              <a:avLst/>
            </a:prstTxWarp>
            <a:noAutofit/>
          </a:bodyPr>
          <a:lstStyle/>
          <a:p>
            <a:r>
              <a:rPr lang="en-US" sz="840" dirty="0" err="1"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xxxxx</a:t>
            </a:r>
            <a:endParaRPr lang="en-MY" sz="84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21" name="Picture 120"/>
          <p:cNvPicPr>
            <a:picLocks noChangeAspect="1"/>
          </p:cNvPicPr>
          <p:nvPr/>
        </p:nvPicPr>
        <p:blipFill>
          <a:blip r:embed="rId4"/>
          <a:stretch>
            <a:fillRect/>
          </a:stretch>
        </p:blipFill>
        <p:spPr>
          <a:xfrm>
            <a:off x="1987130" y="2809346"/>
            <a:ext cx="325137" cy="325137"/>
          </a:xfrm>
          <a:prstGeom prst="rect">
            <a:avLst/>
          </a:prstGeom>
        </p:spPr>
      </p:pic>
      <p:pic>
        <p:nvPicPr>
          <p:cNvPr id="122" name="Picture 121"/>
          <p:cNvPicPr>
            <a:picLocks noChangeAspect="1"/>
          </p:cNvPicPr>
          <p:nvPr/>
        </p:nvPicPr>
        <p:blipFill>
          <a:blip r:embed="rId2"/>
          <a:stretch>
            <a:fillRect/>
          </a:stretch>
        </p:blipFill>
        <p:spPr>
          <a:xfrm>
            <a:off x="895112" y="5701142"/>
            <a:ext cx="2500441" cy="4447451"/>
          </a:xfrm>
          <a:prstGeom prst="rect">
            <a:avLst/>
          </a:prstGeom>
        </p:spPr>
      </p:pic>
      <p:sp>
        <p:nvSpPr>
          <p:cNvPr id="123" name="TextBox 122"/>
          <p:cNvSpPr txBox="1"/>
          <p:nvPr/>
        </p:nvSpPr>
        <p:spPr>
          <a:xfrm>
            <a:off x="1276177" y="5858474"/>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Payment Unsuccessful</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4" name="TextBox 123"/>
          <p:cNvSpPr txBox="1"/>
          <p:nvPr/>
        </p:nvSpPr>
        <p:spPr>
          <a:xfrm>
            <a:off x="898421" y="6420608"/>
            <a:ext cx="2489767" cy="1541961"/>
          </a:xfrm>
          <a:prstGeom prst="rect">
            <a:avLst/>
          </a:prstGeom>
          <a:noFill/>
        </p:spPr>
        <p:txBody>
          <a:bodyPr wrap="square" rtlCol="0">
            <a:spAutoFit/>
          </a:bodyPr>
          <a:lstStyle/>
          <a:p>
            <a:pPr algn="ctr" defTabSz="302400"/>
            <a:r>
              <a:rPr lang="en-US" sz="840" b="1" dirty="0" smtClean="0">
                <a:latin typeface="Open Sans" panose="020B0606030504020204" pitchFamily="34" charset="0"/>
                <a:ea typeface="Open Sans" panose="020B0606030504020204" pitchFamily="34" charset="0"/>
                <a:cs typeface="Open Sans" panose="020B0606030504020204" pitchFamily="34" charset="0"/>
              </a:rPr>
              <a:t>Sorry!</a:t>
            </a:r>
          </a:p>
          <a:p>
            <a:pPr algn="ctr" defTabSz="302400"/>
            <a:endParaRPr lang="en-US" sz="840" b="1" dirty="0" smtClean="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MY" sz="840" dirty="0" smtClean="0">
                <a:latin typeface="Open Sans" panose="020B0606030504020204" pitchFamily="34" charset="0"/>
                <a:ea typeface="Open Sans" panose="020B0606030504020204" pitchFamily="34" charset="0"/>
                <a:cs typeface="Open Sans" panose="020B0606030504020204" pitchFamily="34" charset="0"/>
              </a:rPr>
              <a:t>Your transaction payment was declined by your card issuer.</a:t>
            </a:r>
          </a:p>
          <a:p>
            <a:pPr algn="ct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US" sz="84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_________________________________________</a:t>
            </a:r>
            <a:endParaRPr lang="en-MY" sz="84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gn="ctr" defTabSz="302400"/>
            <a:endParaRPr lang="en-US" sz="840" dirty="0" smtClean="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US" sz="840" dirty="0" smtClean="0">
                <a:latin typeface="Open Sans" panose="020B0606030504020204" pitchFamily="34" charset="0"/>
                <a:ea typeface="Open Sans" panose="020B0606030504020204" pitchFamily="34" charset="0"/>
                <a:cs typeface="Open Sans" panose="020B0606030504020204" pitchFamily="34" charset="0"/>
              </a:rPr>
              <a:t>Please use a different payment card or contact your Issuing Bank for additional information.</a:t>
            </a:r>
            <a:endParaRPr lang="en-US" sz="840" dirty="0">
              <a:latin typeface="Open Sans" panose="020B0606030504020204" pitchFamily="34" charset="0"/>
              <a:ea typeface="Open Sans" panose="020B0606030504020204" pitchFamily="34" charset="0"/>
              <a:cs typeface="Open Sans" panose="020B0606030504020204" pitchFamily="34" charset="0"/>
            </a:endParaRPr>
          </a:p>
          <a:p>
            <a:pP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p:txBody>
      </p:sp>
      <p:pic>
        <p:nvPicPr>
          <p:cNvPr id="125" name="Picture 124"/>
          <p:cNvPicPr>
            <a:picLocks noChangeAspect="1"/>
          </p:cNvPicPr>
          <p:nvPr/>
        </p:nvPicPr>
        <p:blipFill>
          <a:blip r:embed="rId2"/>
          <a:stretch>
            <a:fillRect/>
          </a:stretch>
        </p:blipFill>
        <p:spPr>
          <a:xfrm>
            <a:off x="3941241" y="5704325"/>
            <a:ext cx="2500441" cy="4447451"/>
          </a:xfrm>
          <a:prstGeom prst="rect">
            <a:avLst/>
          </a:prstGeom>
        </p:spPr>
      </p:pic>
      <p:sp>
        <p:nvSpPr>
          <p:cNvPr id="126" name="TextBox 125"/>
          <p:cNvSpPr txBox="1"/>
          <p:nvPr/>
        </p:nvSpPr>
        <p:spPr>
          <a:xfrm>
            <a:off x="4322306" y="5861657"/>
            <a:ext cx="2119376" cy="253916"/>
          </a:xfrm>
          <a:prstGeom prst="rect">
            <a:avLst/>
          </a:prstGeom>
          <a:noFill/>
        </p:spPr>
        <p:txBody>
          <a:bodyPr wrap="square" rtlCol="0">
            <a:spAutoFit/>
          </a:bodyPr>
          <a:lstStyle/>
          <a:p>
            <a:r>
              <a:rPr lang="en-MY" sz="1050" dirty="0" smtClean="0">
                <a:solidFill>
                  <a:schemeClr val="bg1"/>
                </a:solidFill>
                <a:latin typeface="Open Sans" panose="020B0606030504020204" pitchFamily="34" charset="0"/>
                <a:ea typeface="Open Sans" panose="020B0606030504020204" pitchFamily="34" charset="0"/>
                <a:cs typeface="Open Sans" panose="020B0606030504020204" pitchFamily="34" charset="0"/>
              </a:rPr>
              <a:t>Connection Timeout Error</a:t>
            </a:r>
            <a:endParaRPr lang="en-MY" sz="10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7" name="TextBox 126"/>
          <p:cNvSpPr txBox="1"/>
          <p:nvPr/>
        </p:nvSpPr>
        <p:spPr>
          <a:xfrm>
            <a:off x="3944550" y="6423791"/>
            <a:ext cx="2489767" cy="1643527"/>
          </a:xfrm>
          <a:prstGeom prst="rect">
            <a:avLst/>
          </a:prstGeom>
          <a:noFill/>
        </p:spPr>
        <p:txBody>
          <a:bodyPr wrap="square" rtlCol="0">
            <a:spAutoFit/>
          </a:bodyPr>
          <a:lstStyle/>
          <a:p>
            <a:pPr algn="ctr" defTabSz="302400"/>
            <a:r>
              <a:rPr lang="en-US" sz="840" b="1" dirty="0" smtClean="0">
                <a:latin typeface="Open Sans" panose="020B0606030504020204" pitchFamily="34" charset="0"/>
                <a:ea typeface="Open Sans" panose="020B0606030504020204" pitchFamily="34" charset="0"/>
                <a:cs typeface="Open Sans" panose="020B0606030504020204" pitchFamily="34" charset="0"/>
              </a:rPr>
              <a:t>Timeout Error!</a:t>
            </a:r>
          </a:p>
          <a:p>
            <a:pPr algn="ctr" defTabSz="302400"/>
            <a:endParaRPr lang="en-US" sz="840" b="1" dirty="0" smtClean="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MY" sz="840" dirty="0" smtClean="0">
                <a:latin typeface="Open Sans" panose="020B0606030504020204" pitchFamily="34" charset="0"/>
                <a:ea typeface="Open Sans" panose="020B0606030504020204" pitchFamily="34" charset="0"/>
                <a:cs typeface="Open Sans" panose="020B0606030504020204" pitchFamily="34" charset="0"/>
              </a:rPr>
              <a:t>We’re sorry, we are experiencing a system connection error. The site could be temporarily unavailable or too busy.</a:t>
            </a:r>
          </a:p>
          <a:p>
            <a:pPr algn="ctr" defTabSz="302400"/>
            <a:endParaRPr lang="en-MY" sz="840" dirty="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MY" sz="840" dirty="0" smtClean="0">
                <a:latin typeface="Open Sans" panose="020B0606030504020204" pitchFamily="34" charset="0"/>
                <a:ea typeface="Open Sans" panose="020B0606030504020204" pitchFamily="34" charset="0"/>
                <a:cs typeface="Open Sans" panose="020B0606030504020204" pitchFamily="34" charset="0"/>
              </a:rPr>
              <a:t>Please try again in a few minutes.</a:t>
            </a:r>
            <a:endParaRPr lang="en-US" sz="840" dirty="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US" sz="84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_________________________________________</a:t>
            </a:r>
            <a:endParaRPr lang="en-MY" sz="84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gn="ctr" defTabSz="302400"/>
            <a:endParaRPr lang="en-US" sz="840" dirty="0" smtClean="0">
              <a:latin typeface="Open Sans" panose="020B0606030504020204" pitchFamily="34" charset="0"/>
              <a:ea typeface="Open Sans" panose="020B0606030504020204" pitchFamily="34" charset="0"/>
              <a:cs typeface="Open Sans" panose="020B0606030504020204" pitchFamily="34" charset="0"/>
            </a:endParaRPr>
          </a:p>
          <a:p>
            <a:pPr algn="ctr" defTabSz="302400"/>
            <a:r>
              <a:rPr lang="en-US" sz="840" dirty="0" smtClean="0">
                <a:latin typeface="Open Sans" panose="020B0606030504020204" pitchFamily="34" charset="0"/>
                <a:ea typeface="Open Sans" panose="020B0606030504020204" pitchFamily="34" charset="0"/>
                <a:cs typeface="Open Sans" panose="020B0606030504020204" pitchFamily="34" charset="0"/>
              </a:rPr>
              <a:t>Please contact our Helpline at </a:t>
            </a:r>
            <a:r>
              <a:rPr lang="en-US" sz="840" dirty="0" err="1" smtClean="0">
                <a:latin typeface="Open Sans" panose="020B0606030504020204" pitchFamily="34" charset="0"/>
                <a:ea typeface="Open Sans" panose="020B0606030504020204" pitchFamily="34" charset="0"/>
                <a:cs typeface="Open Sans" panose="020B0606030504020204" pitchFamily="34" charset="0"/>
              </a:rPr>
              <a:t>xxxxxxxxxx</a:t>
            </a:r>
            <a:r>
              <a:rPr lang="en-US" sz="840" dirty="0" smtClean="0">
                <a:latin typeface="Open Sans" panose="020B0606030504020204" pitchFamily="34" charset="0"/>
                <a:ea typeface="Open Sans" panose="020B0606030504020204" pitchFamily="34" charset="0"/>
                <a:cs typeface="Open Sans" panose="020B0606030504020204" pitchFamily="34" charset="0"/>
              </a:rPr>
              <a:t>, if problem persists!</a:t>
            </a:r>
            <a:endParaRPr lang="en-US" sz="840" dirty="0">
              <a:latin typeface="Open Sans" panose="020B0606030504020204" pitchFamily="34" charset="0"/>
              <a:ea typeface="Open Sans" panose="020B0606030504020204" pitchFamily="34" charset="0"/>
              <a:cs typeface="Open Sans" panose="020B0606030504020204" pitchFamily="34" charset="0"/>
            </a:endParaRPr>
          </a:p>
          <a:p>
            <a:pPr defTabSz="302400"/>
            <a:endParaRPr lang="en-US" sz="840" dirty="0">
              <a:latin typeface="Open Sans" panose="020B0606030504020204" pitchFamily="34" charset="0"/>
              <a:ea typeface="Open Sans" panose="020B0606030504020204" pitchFamily="34" charset="0"/>
              <a:cs typeface="Open Sans" panose="020B0606030504020204" pitchFamily="34" charset="0"/>
            </a:endParaRPr>
          </a:p>
        </p:txBody>
      </p:sp>
      <p:sp>
        <p:nvSpPr>
          <p:cNvPr id="128" name="Rectangle 127"/>
          <p:cNvSpPr/>
          <p:nvPr/>
        </p:nvSpPr>
        <p:spPr>
          <a:xfrm>
            <a:off x="8035611" y="2316810"/>
            <a:ext cx="526846" cy="22544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Disbursement Date</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9" name="Rectangle 128"/>
          <p:cNvSpPr/>
          <p:nvPr/>
        </p:nvSpPr>
        <p:spPr>
          <a:xfrm>
            <a:off x="8037563" y="2928160"/>
            <a:ext cx="527142"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17-08-2016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0" name="Rectangle 129"/>
          <p:cNvSpPr/>
          <p:nvPr/>
        </p:nvSpPr>
        <p:spPr>
          <a:xfrm>
            <a:off x="8039249" y="2737364"/>
            <a:ext cx="525574" cy="19238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06-08-2016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1" name="Rectangle 130"/>
          <p:cNvSpPr/>
          <p:nvPr/>
        </p:nvSpPr>
        <p:spPr>
          <a:xfrm>
            <a:off x="11105616" y="2317656"/>
            <a:ext cx="509190" cy="2213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Repayment Status</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2" name="Rectangle 131"/>
          <p:cNvSpPr/>
          <p:nvPr/>
        </p:nvSpPr>
        <p:spPr>
          <a:xfrm>
            <a:off x="11107732" y="2730586"/>
            <a:ext cx="506772" cy="19332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Paid</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Rectangle 132"/>
          <p:cNvSpPr/>
          <p:nvPr/>
        </p:nvSpPr>
        <p:spPr>
          <a:xfrm>
            <a:off x="11107732" y="2924617"/>
            <a:ext cx="506772" cy="19332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Paid</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4" name="Rectangle 133"/>
          <p:cNvSpPr/>
          <p:nvPr/>
        </p:nvSpPr>
        <p:spPr>
          <a:xfrm>
            <a:off x="7129300" y="2543277"/>
            <a:ext cx="471538" cy="192842"/>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XXXXXXXXXXX</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2" name="Rectangle 141"/>
          <p:cNvSpPr/>
          <p:nvPr/>
        </p:nvSpPr>
        <p:spPr>
          <a:xfrm>
            <a:off x="7601156" y="2543520"/>
            <a:ext cx="432494"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15-07-2016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3" name="Rectangle 142"/>
          <p:cNvSpPr/>
          <p:nvPr/>
        </p:nvSpPr>
        <p:spPr>
          <a:xfrm>
            <a:off x="9293435" y="2540698"/>
            <a:ext cx="506756" cy="19284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IDR1,000,000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4" name="Rectangle 143"/>
          <p:cNvSpPr/>
          <p:nvPr/>
        </p:nvSpPr>
        <p:spPr>
          <a:xfrm>
            <a:off x="8998265" y="2543042"/>
            <a:ext cx="292618" cy="19098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30 Days</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6" name="Rectangle 145"/>
          <p:cNvSpPr/>
          <p:nvPr/>
        </p:nvSpPr>
        <p:spPr>
          <a:xfrm>
            <a:off x="8562457" y="2542473"/>
            <a:ext cx="435095"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18-08-2016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9" name="Rectangle 148"/>
          <p:cNvSpPr/>
          <p:nvPr/>
        </p:nvSpPr>
        <p:spPr>
          <a:xfrm>
            <a:off x="9796129" y="2540218"/>
            <a:ext cx="510286" cy="19332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IDR1,300,000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1" name="Rectangle 150"/>
          <p:cNvSpPr/>
          <p:nvPr/>
        </p:nvSpPr>
        <p:spPr>
          <a:xfrm>
            <a:off x="8035315" y="2543520"/>
            <a:ext cx="527142" cy="192846"/>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8006" rIns="0" bIns="48006" numCol="1" spcCol="0" rtlCol="0" fromWordArt="0" anchor="ctr" anchorCtr="0" forceAA="0" compatLnSpc="1">
            <a:prstTxWarp prst="textNoShape">
              <a:avLst/>
            </a:prstTxWarp>
            <a:noAutofit/>
          </a:bodyPr>
          <a:lstStyle/>
          <a:p>
            <a:pPr algn="ct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19-07-2016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2" name="Rectangle 151"/>
          <p:cNvSpPr/>
          <p:nvPr/>
        </p:nvSpPr>
        <p:spPr>
          <a:xfrm>
            <a:off x="11105484" y="2539977"/>
            <a:ext cx="506772" cy="193327"/>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rgbClr val="FF0000"/>
                </a:solidFill>
                <a:latin typeface="Open Sans" panose="020B0606030504020204" pitchFamily="34" charset="0"/>
                <a:ea typeface="Open Sans" panose="020B0606030504020204" pitchFamily="34" charset="0"/>
                <a:cs typeface="Open Sans" panose="020B0606030504020204" pitchFamily="34" charset="0"/>
              </a:rPr>
              <a:t>Pending Repayment</a:t>
            </a:r>
            <a:endParaRPr lang="en-MY" sz="55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3" name="Rectangle 162"/>
          <p:cNvSpPr/>
          <p:nvPr/>
        </p:nvSpPr>
        <p:spPr>
          <a:xfrm>
            <a:off x="10309060" y="2542436"/>
            <a:ext cx="508478" cy="19038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IDR300,000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4" name="Rectangle 163"/>
          <p:cNvSpPr/>
          <p:nvPr/>
        </p:nvSpPr>
        <p:spPr>
          <a:xfrm>
            <a:off x="10814736" y="2543841"/>
            <a:ext cx="292681" cy="191713"/>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ctr"/>
            <a:r>
              <a:rPr lang="en-US" sz="550" dirty="0">
                <a:solidFill>
                  <a:schemeClr val="tx1"/>
                </a:solidFill>
                <a:latin typeface="Open Sans" panose="020B0606030504020204" pitchFamily="34" charset="0"/>
                <a:ea typeface="Open Sans" panose="020B0606030504020204" pitchFamily="34" charset="0"/>
                <a:cs typeface="Open Sans" panose="020B0606030504020204" pitchFamily="34" charset="0"/>
              </a:rPr>
              <a:t>3</a:t>
            </a: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5" name="Rectangle 164"/>
          <p:cNvSpPr/>
          <p:nvPr/>
        </p:nvSpPr>
        <p:spPr>
          <a:xfrm>
            <a:off x="9865445" y="3139016"/>
            <a:ext cx="994163" cy="19332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rgbClr val="FF0000"/>
                </a:solidFill>
                <a:latin typeface="Open Sans" panose="020B0606030504020204" pitchFamily="34" charset="0"/>
                <a:ea typeface="Open Sans" panose="020B0606030504020204" pitchFamily="34" charset="0"/>
                <a:cs typeface="Open Sans" panose="020B0606030504020204" pitchFamily="34" charset="0"/>
              </a:rPr>
              <a:t>Scroll to right to view more</a:t>
            </a:r>
            <a:endParaRPr lang="en-MY" sz="550"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6" name="Rectangle 165"/>
          <p:cNvSpPr/>
          <p:nvPr/>
        </p:nvSpPr>
        <p:spPr>
          <a:xfrm>
            <a:off x="7132594" y="3487424"/>
            <a:ext cx="1509178" cy="15632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Total Investment Amount (as of 27-08-2016)</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7" name="Rectangle 166"/>
          <p:cNvSpPr/>
          <p:nvPr/>
        </p:nvSpPr>
        <p:spPr>
          <a:xfrm>
            <a:off x="7132594" y="3642876"/>
            <a:ext cx="1509178" cy="15632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Total Investment Return</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8" name="Rectangle 167"/>
          <p:cNvSpPr/>
          <p:nvPr/>
        </p:nvSpPr>
        <p:spPr>
          <a:xfrm>
            <a:off x="7132594" y="3797958"/>
            <a:ext cx="1509178" cy="15632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Total Investment Return</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9" name="Rectangle 168"/>
          <p:cNvSpPr/>
          <p:nvPr/>
        </p:nvSpPr>
        <p:spPr>
          <a:xfrm>
            <a:off x="8641772" y="3486555"/>
            <a:ext cx="795669" cy="156321"/>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IDR5,000,000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2" name="Rectangle 171"/>
          <p:cNvSpPr/>
          <p:nvPr/>
        </p:nvSpPr>
        <p:spPr>
          <a:xfrm>
            <a:off x="8641772" y="3640359"/>
            <a:ext cx="795669" cy="156321"/>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IDR4,000,000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3" name="Rectangle 172"/>
          <p:cNvSpPr/>
          <p:nvPr/>
        </p:nvSpPr>
        <p:spPr>
          <a:xfrm>
            <a:off x="8641772" y="3800005"/>
            <a:ext cx="795669" cy="156321"/>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pPr algn="r"/>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IDR400,000</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4" name="Rectangle 173"/>
          <p:cNvSpPr/>
          <p:nvPr/>
        </p:nvSpPr>
        <p:spPr>
          <a:xfrm>
            <a:off x="7132594" y="3955457"/>
            <a:ext cx="1509178" cy="156321"/>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48006" rIns="36000" bIns="48006" numCol="1" spcCol="0" rtlCol="0" fromWordArt="0" anchor="ctr" anchorCtr="0" forceAA="0" compatLnSpc="1">
            <a:prstTxWarp prst="textNoShape">
              <a:avLst/>
            </a:prstTxWarp>
            <a:noAutofit/>
          </a:bodyPr>
          <a:lstStyle/>
          <a:p>
            <a:r>
              <a:rPr lang="en-US" sz="550" dirty="0" smtClean="0">
                <a:solidFill>
                  <a:schemeClr val="tx1"/>
                </a:solidFill>
                <a:latin typeface="Open Sans" panose="020B0606030504020204" pitchFamily="34" charset="0"/>
                <a:ea typeface="Open Sans" panose="020B0606030504020204" pitchFamily="34" charset="0"/>
                <a:cs typeface="Open Sans" panose="020B0606030504020204" pitchFamily="34" charset="0"/>
              </a:rPr>
              <a:t>Total Investment Return</a:t>
            </a:r>
            <a:endParaRPr lang="en-MY" sz="55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6521969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2174</TotalTime>
  <Words>784</Words>
  <Application>Microsoft Macintosh PowerPoint</Application>
  <PresentationFormat>Custom</PresentationFormat>
  <Paragraphs>252</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Open Sans</vt:lpstr>
      <vt:lpstr>Office Theme</vt:lpstr>
      <vt:lpstr>PowerPoint Presentation</vt:lpstr>
      <vt:lpstr>PowerPoint Presentation</vt:lpstr>
    </vt:vector>
  </TitlesOfParts>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yvnnie</dc:creator>
  <cp:lastModifiedBy>Brian Young</cp:lastModifiedBy>
  <cp:revision>156</cp:revision>
  <dcterms:created xsi:type="dcterms:W3CDTF">2016-08-19T03:56:24Z</dcterms:created>
  <dcterms:modified xsi:type="dcterms:W3CDTF">2016-08-31T10:51:09Z</dcterms:modified>
</cp:coreProperties>
</file>